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0489" r:id="rId2"/>
    <p:sldId id="2147470492" r:id="rId3"/>
    <p:sldId id="2147470493" r:id="rId4"/>
    <p:sldId id="2147470494" r:id="rId5"/>
    <p:sldId id="2147470495" r:id="rId6"/>
    <p:sldId id="2147470496" r:id="rId7"/>
    <p:sldId id="2147470497" r:id="rId8"/>
    <p:sldId id="2147470499" r:id="rId9"/>
    <p:sldId id="2147470500" r:id="rId10"/>
    <p:sldId id="2147470502" r:id="rId11"/>
    <p:sldId id="2147470503" r:id="rId12"/>
    <p:sldId id="2147470504" r:id="rId13"/>
    <p:sldId id="2147470508" r:id="rId14"/>
    <p:sldId id="2147470509" r:id="rId15"/>
    <p:sldId id="2147470510" r:id="rId16"/>
    <p:sldId id="2147470521" r:id="rId17"/>
    <p:sldId id="2147470511" r:id="rId18"/>
    <p:sldId id="2147470505" r:id="rId19"/>
    <p:sldId id="2147470501" r:id="rId20"/>
    <p:sldId id="2147470515" r:id="rId21"/>
    <p:sldId id="2147470512" r:id="rId22"/>
    <p:sldId id="2147470516" r:id="rId23"/>
    <p:sldId id="2147470519" r:id="rId24"/>
    <p:sldId id="2147470517" r:id="rId25"/>
    <p:sldId id="2147470520" r:id="rId26"/>
    <p:sldId id="2147470518" r:id="rId27"/>
    <p:sldId id="2147470513" r:id="rId28"/>
    <p:sldId id="2147470514" r:id="rId29"/>
    <p:sldId id="2147470522" r:id="rId30"/>
    <p:sldId id="2147470525" r:id="rId31"/>
    <p:sldId id="2147470524" r:id="rId32"/>
    <p:sldId id="2147470526" r:id="rId33"/>
    <p:sldId id="2147470527" r:id="rId34"/>
    <p:sldId id="2147470528" r:id="rId35"/>
    <p:sldId id="2147470523"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0A036A-13DE-4C9D-9828-C46B07147FA1}" v="406" dt="2025-10-08T06:16:13.7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5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tvi Bhora" userId="06166e0c-1a4e-490f-8835-7633c5938692" providerId="ADAL" clId="{F6795494-D011-4913-A565-CED552FAAD28}"/>
    <pc:docChg chg="undo custSel addSld delSld modSld sldOrd">
      <pc:chgData name="Hetvi Bhora" userId="06166e0c-1a4e-490f-8835-7633c5938692" providerId="ADAL" clId="{F6795494-D011-4913-A565-CED552FAAD28}" dt="2025-10-08T06:16:51.962" v="668" actId="12"/>
      <pc:docMkLst>
        <pc:docMk/>
      </pc:docMkLst>
      <pc:sldChg chg="modSp mod">
        <pc:chgData name="Hetvi Bhora" userId="06166e0c-1a4e-490f-8835-7633c5938692" providerId="ADAL" clId="{F6795494-D011-4913-A565-CED552FAAD28}" dt="2025-10-08T04:03:55.655" v="94" actId="20577"/>
        <pc:sldMkLst>
          <pc:docMk/>
          <pc:sldMk cId="3449507583" sldId="2147470489"/>
        </pc:sldMkLst>
        <pc:spChg chg="mod">
          <ac:chgData name="Hetvi Bhora" userId="06166e0c-1a4e-490f-8835-7633c5938692" providerId="ADAL" clId="{F6795494-D011-4913-A565-CED552FAAD28}" dt="2025-10-08T04:03:55.655" v="94" actId="20577"/>
          <ac:spMkLst>
            <pc:docMk/>
            <pc:sldMk cId="3449507583" sldId="2147470489"/>
            <ac:spMk id="4" creationId="{598A8852-79FE-2D69-0530-D7712358063B}"/>
          </ac:spMkLst>
        </pc:spChg>
      </pc:sldChg>
      <pc:sldChg chg="modSp mod modAnim">
        <pc:chgData name="Hetvi Bhora" userId="06166e0c-1a4e-490f-8835-7633c5938692" providerId="ADAL" clId="{F6795494-D011-4913-A565-CED552FAAD28}" dt="2025-10-08T04:21:55.475" v="300"/>
        <pc:sldMkLst>
          <pc:docMk/>
          <pc:sldMk cId="2034681921" sldId="2147470494"/>
        </pc:sldMkLst>
        <pc:spChg chg="mod">
          <ac:chgData name="Hetvi Bhora" userId="06166e0c-1a4e-490f-8835-7633c5938692" providerId="ADAL" clId="{F6795494-D011-4913-A565-CED552FAAD28}" dt="2025-10-08T04:21:55.475" v="300"/>
          <ac:spMkLst>
            <pc:docMk/>
            <pc:sldMk cId="2034681921" sldId="2147470494"/>
            <ac:spMk id="2" creationId="{D325C8EF-A5DD-AB22-0372-51B9ABE63526}"/>
          </ac:spMkLst>
        </pc:spChg>
      </pc:sldChg>
      <pc:sldChg chg="addSp delSp modSp mod ord">
        <pc:chgData name="Hetvi Bhora" userId="06166e0c-1a4e-490f-8835-7633c5938692" providerId="ADAL" clId="{F6795494-D011-4913-A565-CED552FAAD28}" dt="2025-10-08T04:20:59.989" v="292" actId="1076"/>
        <pc:sldMkLst>
          <pc:docMk/>
          <pc:sldMk cId="2023526428" sldId="2147470501"/>
        </pc:sldMkLst>
        <pc:spChg chg="add mod">
          <ac:chgData name="Hetvi Bhora" userId="06166e0c-1a4e-490f-8835-7633c5938692" providerId="ADAL" clId="{F6795494-D011-4913-A565-CED552FAAD28}" dt="2025-10-08T04:20:29.580" v="288" actId="1076"/>
          <ac:spMkLst>
            <pc:docMk/>
            <pc:sldMk cId="2023526428" sldId="2147470501"/>
            <ac:spMk id="3" creationId="{1AE928C1-A2E8-23AC-1589-981334841BF1}"/>
          </ac:spMkLst>
        </pc:spChg>
        <pc:spChg chg="add mod">
          <ac:chgData name="Hetvi Bhora" userId="06166e0c-1a4e-490f-8835-7633c5938692" providerId="ADAL" clId="{F6795494-D011-4913-A565-CED552FAAD28}" dt="2025-10-08T04:20:45.442" v="290" actId="1076"/>
          <ac:spMkLst>
            <pc:docMk/>
            <pc:sldMk cId="2023526428" sldId="2147470501"/>
            <ac:spMk id="4" creationId="{0430B948-1158-D757-A8CF-354EAC0C4869}"/>
          </ac:spMkLst>
        </pc:spChg>
        <pc:picChg chg="add mod">
          <ac:chgData name="Hetvi Bhora" userId="06166e0c-1a4e-490f-8835-7633c5938692" providerId="ADAL" clId="{F6795494-D011-4913-A565-CED552FAAD28}" dt="2025-10-08T04:20:34.340" v="289" actId="14100"/>
          <ac:picMkLst>
            <pc:docMk/>
            <pc:sldMk cId="2023526428" sldId="2147470501"/>
            <ac:picMk id="2" creationId="{24355F79-FD5E-0F58-6E08-3C7638677C1B}"/>
          </ac:picMkLst>
        </pc:picChg>
        <pc:cxnChg chg="add mod">
          <ac:chgData name="Hetvi Bhora" userId="06166e0c-1a4e-490f-8835-7633c5938692" providerId="ADAL" clId="{F6795494-D011-4913-A565-CED552FAAD28}" dt="2025-10-08T04:20:59.989" v="292" actId="1076"/>
          <ac:cxnSpMkLst>
            <pc:docMk/>
            <pc:sldMk cId="2023526428" sldId="2147470501"/>
            <ac:cxnSpMk id="5" creationId="{2098C5F1-BC66-9AD3-25CE-E238C7DD58F2}"/>
          </ac:cxnSpMkLst>
        </pc:cxnChg>
      </pc:sldChg>
      <pc:sldChg chg="modSp add mod modAnim">
        <pc:chgData name="Hetvi Bhora" userId="06166e0c-1a4e-490f-8835-7633c5938692" providerId="ADAL" clId="{F6795494-D011-4913-A565-CED552FAAD28}" dt="2025-10-08T04:05:28.361" v="95" actId="113"/>
        <pc:sldMkLst>
          <pc:docMk/>
          <pc:sldMk cId="3814275361" sldId="2147470522"/>
        </pc:sldMkLst>
        <pc:spChg chg="mod">
          <ac:chgData name="Hetvi Bhora" userId="06166e0c-1a4e-490f-8835-7633c5938692" providerId="ADAL" clId="{F6795494-D011-4913-A565-CED552FAAD28}" dt="2025-09-24T05:42:04.540" v="57" actId="20577"/>
          <ac:spMkLst>
            <pc:docMk/>
            <pc:sldMk cId="3814275361" sldId="2147470522"/>
            <ac:spMk id="3" creationId="{EE9893A8-64F6-A01E-2397-20698C823675}"/>
          </ac:spMkLst>
        </pc:spChg>
        <pc:spChg chg="mod">
          <ac:chgData name="Hetvi Bhora" userId="06166e0c-1a4e-490f-8835-7633c5938692" providerId="ADAL" clId="{F6795494-D011-4913-A565-CED552FAAD28}" dt="2025-10-08T04:05:28.361" v="95" actId="113"/>
          <ac:spMkLst>
            <pc:docMk/>
            <pc:sldMk cId="3814275361" sldId="2147470522"/>
            <ac:spMk id="8" creationId="{E44B9EBC-F6E5-7EA1-1ED7-8DEF3CD43589}"/>
          </ac:spMkLst>
        </pc:spChg>
      </pc:sldChg>
      <pc:sldChg chg="modSp add del mod modAnim">
        <pc:chgData name="Hetvi Bhora" userId="06166e0c-1a4e-490f-8835-7633c5938692" providerId="ADAL" clId="{F6795494-D011-4913-A565-CED552FAAD28}" dt="2025-09-24T05:52:44.713" v="81" actId="47"/>
        <pc:sldMkLst>
          <pc:docMk/>
          <pc:sldMk cId="1304172611" sldId="2147470523"/>
        </pc:sldMkLst>
      </pc:sldChg>
      <pc:sldChg chg="delSp add mod">
        <pc:chgData name="Hetvi Bhora" userId="06166e0c-1a4e-490f-8835-7633c5938692" providerId="ADAL" clId="{F6795494-D011-4913-A565-CED552FAAD28}" dt="2025-09-24T08:30:06.126" v="84" actId="478"/>
        <pc:sldMkLst>
          <pc:docMk/>
          <pc:sldMk cId="3076457511" sldId="2147470523"/>
        </pc:sldMkLst>
      </pc:sldChg>
      <pc:sldChg chg="addSp modSp add mod modAnim">
        <pc:chgData name="Hetvi Bhora" userId="06166e0c-1a4e-490f-8835-7633c5938692" providerId="ADAL" clId="{F6795494-D011-4913-A565-CED552FAAD28}" dt="2025-10-08T06:00:34.970" v="656" actId="255"/>
        <pc:sldMkLst>
          <pc:docMk/>
          <pc:sldMk cId="2349629259" sldId="2147470524"/>
        </pc:sldMkLst>
        <pc:spChg chg="add mod">
          <ac:chgData name="Hetvi Bhora" userId="06166e0c-1a4e-490f-8835-7633c5938692" providerId="ADAL" clId="{F6795494-D011-4913-A565-CED552FAAD28}" dt="2025-10-08T06:00:34.970" v="656" actId="255"/>
          <ac:spMkLst>
            <pc:docMk/>
            <pc:sldMk cId="2349629259" sldId="2147470524"/>
            <ac:spMk id="2" creationId="{A00AF73D-8882-9B2C-EDD3-297A72ABF8B6}"/>
          </ac:spMkLst>
        </pc:spChg>
        <pc:spChg chg="mod">
          <ac:chgData name="Hetvi Bhora" userId="06166e0c-1a4e-490f-8835-7633c5938692" providerId="ADAL" clId="{F6795494-D011-4913-A565-CED552FAAD28}" dt="2025-10-08T05:59:55.507" v="651" actId="1076"/>
          <ac:spMkLst>
            <pc:docMk/>
            <pc:sldMk cId="2349629259" sldId="2147470524"/>
            <ac:spMk id="3" creationId="{386C66AE-5D61-2496-D192-E2604EDF32AF}"/>
          </ac:spMkLst>
        </pc:spChg>
        <pc:spChg chg="add mod">
          <ac:chgData name="Hetvi Bhora" userId="06166e0c-1a4e-490f-8835-7633c5938692" providerId="ADAL" clId="{F6795494-D011-4913-A565-CED552FAAD28}" dt="2025-10-08T05:53:41.435" v="478" actId="21"/>
          <ac:spMkLst>
            <pc:docMk/>
            <pc:sldMk cId="2349629259" sldId="2147470524"/>
            <ac:spMk id="6" creationId="{646BEB86-DC43-318F-22C5-D7077891940A}"/>
          </ac:spMkLst>
        </pc:spChg>
        <pc:spChg chg="mod">
          <ac:chgData name="Hetvi Bhora" userId="06166e0c-1a4e-490f-8835-7633c5938692" providerId="ADAL" clId="{F6795494-D011-4913-A565-CED552FAAD28}" dt="2025-10-08T05:58:01.500" v="609" actId="14100"/>
          <ac:spMkLst>
            <pc:docMk/>
            <pc:sldMk cId="2349629259" sldId="2147470524"/>
            <ac:spMk id="8" creationId="{A4E81981-C05D-2C6C-3474-B0ABDE586352}"/>
          </ac:spMkLst>
        </pc:spChg>
        <pc:cxnChg chg="mod">
          <ac:chgData name="Hetvi Bhora" userId="06166e0c-1a4e-490f-8835-7633c5938692" providerId="ADAL" clId="{F6795494-D011-4913-A565-CED552FAAD28}" dt="2025-10-08T06:00:02.890" v="652" actId="1076"/>
          <ac:cxnSpMkLst>
            <pc:docMk/>
            <pc:sldMk cId="2349629259" sldId="2147470524"/>
            <ac:cxnSpMk id="5" creationId="{0259232E-4979-2F5D-6B35-924979B03FF7}"/>
          </ac:cxnSpMkLst>
        </pc:cxnChg>
      </pc:sldChg>
      <pc:sldChg chg="addSp delSp modSp add mod ord modAnim">
        <pc:chgData name="Hetvi Bhora" userId="06166e0c-1a4e-490f-8835-7633c5938692" providerId="ADAL" clId="{F6795494-D011-4913-A565-CED552FAAD28}" dt="2025-10-08T05:49:47.531" v="475" actId="14100"/>
        <pc:sldMkLst>
          <pc:docMk/>
          <pc:sldMk cId="2442036562" sldId="2147470525"/>
        </pc:sldMkLst>
        <pc:spChg chg="mod">
          <ac:chgData name="Hetvi Bhora" userId="06166e0c-1a4e-490f-8835-7633c5938692" providerId="ADAL" clId="{F6795494-D011-4913-A565-CED552FAAD28}" dt="2025-10-08T04:21:37.338" v="296" actId="20577"/>
          <ac:spMkLst>
            <pc:docMk/>
            <pc:sldMk cId="2442036562" sldId="2147470525"/>
            <ac:spMk id="3" creationId="{0DC12A42-1E16-79E4-BF5F-EBBC200636F2}"/>
          </ac:spMkLst>
        </pc:spChg>
        <pc:spChg chg="add del mod">
          <ac:chgData name="Hetvi Bhora" userId="06166e0c-1a4e-490f-8835-7633c5938692" providerId="ADAL" clId="{F6795494-D011-4913-A565-CED552FAAD28}" dt="2025-10-08T04:39:36.574" v="304" actId="478"/>
          <ac:spMkLst>
            <pc:docMk/>
            <pc:sldMk cId="2442036562" sldId="2147470525"/>
            <ac:spMk id="6" creationId="{42A6BC43-3CE5-3B5E-B588-0B0A8DF5C822}"/>
          </ac:spMkLst>
        </pc:spChg>
        <pc:spChg chg="add mod">
          <ac:chgData name="Hetvi Bhora" userId="06166e0c-1a4e-490f-8835-7633c5938692" providerId="ADAL" clId="{F6795494-D011-4913-A565-CED552FAAD28}" dt="2025-10-08T05:49:47.531" v="475" actId="14100"/>
          <ac:spMkLst>
            <pc:docMk/>
            <pc:sldMk cId="2442036562" sldId="2147470525"/>
            <ac:spMk id="7" creationId="{953F20F8-66EA-4DC4-A2E4-34AE37AEA225}"/>
          </ac:spMkLst>
        </pc:spChg>
        <pc:spChg chg="mod">
          <ac:chgData name="Hetvi Bhora" userId="06166e0c-1a4e-490f-8835-7633c5938692" providerId="ADAL" clId="{F6795494-D011-4913-A565-CED552FAAD28}" dt="2025-10-08T04:17:34.916" v="225" actId="20577"/>
          <ac:spMkLst>
            <pc:docMk/>
            <pc:sldMk cId="2442036562" sldId="2147470525"/>
            <ac:spMk id="8" creationId="{A5DCDC20-9DC2-435B-B26B-969155D7CF57}"/>
          </ac:spMkLst>
        </pc:spChg>
        <pc:spChg chg="add">
          <ac:chgData name="Hetvi Bhora" userId="06166e0c-1a4e-490f-8835-7633c5938692" providerId="ADAL" clId="{F6795494-D011-4913-A565-CED552FAAD28}" dt="2025-10-08T05:45:27.817" v="313"/>
          <ac:spMkLst>
            <pc:docMk/>
            <pc:sldMk cId="2442036562" sldId="2147470525"/>
            <ac:spMk id="9" creationId="{46616D18-5F98-ED48-0C78-106C5A418029}"/>
          </ac:spMkLst>
        </pc:spChg>
      </pc:sldChg>
      <pc:sldChg chg="addSp delSp modSp new mod modAnim">
        <pc:chgData name="Hetvi Bhora" userId="06166e0c-1a4e-490f-8835-7633c5938692" providerId="ADAL" clId="{F6795494-D011-4913-A565-CED552FAAD28}" dt="2025-10-08T06:09:16.367" v="661" actId="14100"/>
        <pc:sldMkLst>
          <pc:docMk/>
          <pc:sldMk cId="3832201796" sldId="2147470526"/>
        </pc:sldMkLst>
        <pc:spChg chg="del mod">
          <ac:chgData name="Hetvi Bhora" userId="06166e0c-1a4e-490f-8835-7633c5938692" providerId="ADAL" clId="{F6795494-D011-4913-A565-CED552FAAD28}" dt="2025-10-08T04:17:54.454" v="227" actId="478"/>
          <ac:spMkLst>
            <pc:docMk/>
            <pc:sldMk cId="3832201796" sldId="2147470526"/>
            <ac:spMk id="2" creationId="{E5AE851F-A708-ECA5-C240-52C10D8A048F}"/>
          </ac:spMkLst>
        </pc:spChg>
        <pc:spChg chg="del">
          <ac:chgData name="Hetvi Bhora" userId="06166e0c-1a4e-490f-8835-7633c5938692" providerId="ADAL" clId="{F6795494-D011-4913-A565-CED552FAAD28}" dt="2025-10-08T04:15:36.928" v="162" actId="478"/>
          <ac:spMkLst>
            <pc:docMk/>
            <pc:sldMk cId="3832201796" sldId="2147470526"/>
            <ac:spMk id="3" creationId="{FA6B1C93-71AC-3373-0C53-884F716CE013}"/>
          </ac:spMkLst>
        </pc:spChg>
        <pc:spChg chg="add mod">
          <ac:chgData name="Hetvi Bhora" userId="06166e0c-1a4e-490f-8835-7633c5938692" providerId="ADAL" clId="{F6795494-D011-4913-A565-CED552FAAD28}" dt="2025-10-08T04:15:52.273" v="183" actId="20577"/>
          <ac:spMkLst>
            <pc:docMk/>
            <pc:sldMk cId="3832201796" sldId="2147470526"/>
            <ac:spMk id="4" creationId="{C8A78931-72B4-2DF4-1362-8F2054BB9E95}"/>
          </ac:spMkLst>
        </pc:spChg>
        <pc:spChg chg="add mod">
          <ac:chgData name="Hetvi Bhora" userId="06166e0c-1a4e-490f-8835-7633c5938692" providerId="ADAL" clId="{F6795494-D011-4913-A565-CED552FAAD28}" dt="2025-10-08T06:09:16.367" v="661" actId="14100"/>
          <ac:spMkLst>
            <pc:docMk/>
            <pc:sldMk cId="3832201796" sldId="2147470526"/>
            <ac:spMk id="5" creationId="{DA216F95-D674-74A6-AD76-55AEB81DEFEC}"/>
          </ac:spMkLst>
        </pc:spChg>
        <pc:spChg chg="add del mod">
          <ac:chgData name="Hetvi Bhora" userId="06166e0c-1a4e-490f-8835-7633c5938692" providerId="ADAL" clId="{F6795494-D011-4913-A565-CED552FAAD28}" dt="2025-10-08T06:00:46.182" v="657" actId="478"/>
          <ac:spMkLst>
            <pc:docMk/>
            <pc:sldMk cId="3832201796" sldId="2147470526"/>
            <ac:spMk id="7" creationId="{90DFE9B3-B1FE-E0D8-5A17-6D36D094CB2C}"/>
          </ac:spMkLst>
        </pc:spChg>
      </pc:sldChg>
      <pc:sldChg chg="addSp delSp modSp add mod modAnim">
        <pc:chgData name="Hetvi Bhora" userId="06166e0c-1a4e-490f-8835-7633c5938692" providerId="ADAL" clId="{F6795494-D011-4913-A565-CED552FAAD28}" dt="2025-10-08T04:18:01.042" v="230"/>
        <pc:sldMkLst>
          <pc:docMk/>
          <pc:sldMk cId="321631115" sldId="2147470527"/>
        </pc:sldMkLst>
        <pc:spChg chg="del">
          <ac:chgData name="Hetvi Bhora" userId="06166e0c-1a4e-490f-8835-7633c5938692" providerId="ADAL" clId="{F6795494-D011-4913-A565-CED552FAAD28}" dt="2025-10-08T04:18:00.348" v="229" actId="478"/>
          <ac:spMkLst>
            <pc:docMk/>
            <pc:sldMk cId="321631115" sldId="2147470527"/>
            <ac:spMk id="2" creationId="{6F171821-03FF-AA59-319A-D8C2D07C4E8B}"/>
          </ac:spMkLst>
        </pc:spChg>
        <pc:spChg chg="add mod">
          <ac:chgData name="Hetvi Bhora" userId="06166e0c-1a4e-490f-8835-7633c5938692" providerId="ADAL" clId="{F6795494-D011-4913-A565-CED552FAAD28}" dt="2025-10-08T04:18:01.042" v="230"/>
          <ac:spMkLst>
            <pc:docMk/>
            <pc:sldMk cId="321631115" sldId="2147470527"/>
            <ac:spMk id="3" creationId="{397AE37E-302B-E9E1-A31C-784F670FB99F}"/>
          </ac:spMkLst>
        </pc:spChg>
        <pc:spChg chg="mod">
          <ac:chgData name="Hetvi Bhora" userId="06166e0c-1a4e-490f-8835-7633c5938692" providerId="ADAL" clId="{F6795494-D011-4913-A565-CED552FAAD28}" dt="2025-10-08T04:16:32.595" v="205"/>
          <ac:spMkLst>
            <pc:docMk/>
            <pc:sldMk cId="321631115" sldId="2147470527"/>
            <ac:spMk id="4" creationId="{4B3B1220-B69D-C570-1D8D-0C42B3FD2530}"/>
          </ac:spMkLst>
        </pc:spChg>
      </pc:sldChg>
      <pc:sldChg chg="addSp delSp modSp add mod modAnim">
        <pc:chgData name="Hetvi Bhora" userId="06166e0c-1a4e-490f-8835-7633c5938692" providerId="ADAL" clId="{F6795494-D011-4913-A565-CED552FAAD28}" dt="2025-10-08T06:16:51.962" v="668" actId="12"/>
        <pc:sldMkLst>
          <pc:docMk/>
          <pc:sldMk cId="3683512189" sldId="2147470528"/>
        </pc:sldMkLst>
        <pc:spChg chg="del">
          <ac:chgData name="Hetvi Bhora" userId="06166e0c-1a4e-490f-8835-7633c5938692" providerId="ADAL" clId="{F6795494-D011-4913-A565-CED552FAAD28}" dt="2025-10-08T04:18:08.443" v="231" actId="478"/>
          <ac:spMkLst>
            <pc:docMk/>
            <pc:sldMk cId="3683512189" sldId="2147470528"/>
            <ac:spMk id="2" creationId="{71B28A14-B570-C0FE-08CC-789D798563C4}"/>
          </ac:spMkLst>
        </pc:spChg>
        <pc:spChg chg="add del mod">
          <ac:chgData name="Hetvi Bhora" userId="06166e0c-1a4e-490f-8835-7633c5938692" providerId="ADAL" clId="{F6795494-D011-4913-A565-CED552FAAD28}" dt="2025-10-08T06:16:13.727" v="664" actId="21"/>
          <ac:spMkLst>
            <pc:docMk/>
            <pc:sldMk cId="3683512189" sldId="2147470528"/>
            <ac:spMk id="3" creationId="{6D3DE50A-71FF-849B-A75F-52F6F5A56610}"/>
          </ac:spMkLst>
        </pc:spChg>
        <pc:spChg chg="mod">
          <ac:chgData name="Hetvi Bhora" userId="06166e0c-1a4e-490f-8835-7633c5938692" providerId="ADAL" clId="{F6795494-D011-4913-A565-CED552FAAD28}" dt="2025-10-08T04:16:41.932" v="215" actId="20577"/>
          <ac:spMkLst>
            <pc:docMk/>
            <pc:sldMk cId="3683512189" sldId="2147470528"/>
            <ac:spMk id="4" creationId="{D7475499-AF7E-16F8-E976-93E0111F0913}"/>
          </ac:spMkLst>
        </pc:spChg>
        <pc:spChg chg="add">
          <ac:chgData name="Hetvi Bhora" userId="06166e0c-1a4e-490f-8835-7633c5938692" providerId="ADAL" clId="{F6795494-D011-4913-A565-CED552FAAD28}" dt="2025-10-08T06:16:03.072" v="662"/>
          <ac:spMkLst>
            <pc:docMk/>
            <pc:sldMk cId="3683512189" sldId="2147470528"/>
            <ac:spMk id="5" creationId="{99B949B5-8797-C00E-DA14-2A52BCEFAA68}"/>
          </ac:spMkLst>
        </pc:spChg>
        <pc:spChg chg="add del">
          <ac:chgData name="Hetvi Bhora" userId="06166e0c-1a4e-490f-8835-7633c5938692" providerId="ADAL" clId="{F6795494-D011-4913-A565-CED552FAAD28}" dt="2025-10-08T06:16:13.727" v="664" actId="21"/>
          <ac:spMkLst>
            <pc:docMk/>
            <pc:sldMk cId="3683512189" sldId="2147470528"/>
            <ac:spMk id="6" creationId="{93DBA176-0A67-F111-FF88-B3D3D05C40B7}"/>
          </ac:spMkLst>
        </pc:spChg>
        <pc:spChg chg="add mod">
          <ac:chgData name="Hetvi Bhora" userId="06166e0c-1a4e-490f-8835-7633c5938692" providerId="ADAL" clId="{F6795494-D011-4913-A565-CED552FAAD28}" dt="2025-10-08T06:16:51.962" v="668" actId="12"/>
          <ac:spMkLst>
            <pc:docMk/>
            <pc:sldMk cId="3683512189" sldId="2147470528"/>
            <ac:spMk id="8" creationId="{EB7B142E-C151-5689-D8C2-8AA0ADCA7898}"/>
          </ac:spMkLst>
        </pc:spChg>
      </pc:sldChg>
    </pc:docChg>
  </pc:docChgLst>
  <pc:docChgLst>
    <pc:chgData name="Hetvi Bhora" userId="06166e0c-1a4e-490f-8835-7633c5938692" providerId="ADAL" clId="{EB9F35C8-1422-4DA3-948B-8F652EA65F2C}"/>
    <pc:docChg chg="undo custSel addSld delSld modSld sldOrd">
      <pc:chgData name="Hetvi Bhora" userId="06166e0c-1a4e-490f-8835-7633c5938692" providerId="ADAL" clId="{EB9F35C8-1422-4DA3-948B-8F652EA65F2C}" dt="2025-09-01T05:31:36.869" v="1563" actId="14100"/>
      <pc:docMkLst>
        <pc:docMk/>
      </pc:docMkLst>
      <pc:sldChg chg="modSp mod">
        <pc:chgData name="Hetvi Bhora" userId="06166e0c-1a4e-490f-8835-7633c5938692" providerId="ADAL" clId="{EB9F35C8-1422-4DA3-948B-8F652EA65F2C}" dt="2025-09-01T05:19:10.546" v="1510" actId="20577"/>
        <pc:sldMkLst>
          <pc:docMk/>
          <pc:sldMk cId="3449507583" sldId="2147470489"/>
        </pc:sldMkLst>
      </pc:sldChg>
      <pc:sldChg chg="ord">
        <pc:chgData name="Hetvi Bhora" userId="06166e0c-1a4e-490f-8835-7633c5938692" providerId="ADAL" clId="{EB9F35C8-1422-4DA3-948B-8F652EA65F2C}" dt="2025-08-31T10:15:56.833" v="1434"/>
        <pc:sldMkLst>
          <pc:docMk/>
          <pc:sldMk cId="1187364388" sldId="2147470491"/>
        </pc:sldMkLst>
      </pc:sldChg>
      <pc:sldChg chg="modSp mod modAnim">
        <pc:chgData name="Hetvi Bhora" userId="06166e0c-1a4e-490f-8835-7633c5938692" providerId="ADAL" clId="{EB9F35C8-1422-4DA3-948B-8F652EA65F2C}" dt="2025-08-31T08:08:29.663" v="914" actId="113"/>
        <pc:sldMkLst>
          <pc:docMk/>
          <pc:sldMk cId="2088180620" sldId="2147470492"/>
        </pc:sldMkLst>
      </pc:sldChg>
      <pc:sldChg chg="modSp mod modAnim">
        <pc:chgData name="Hetvi Bhora" userId="06166e0c-1a4e-490f-8835-7633c5938692" providerId="ADAL" clId="{EB9F35C8-1422-4DA3-948B-8F652EA65F2C}" dt="2025-08-31T08:08:25.070" v="913" actId="113"/>
        <pc:sldMkLst>
          <pc:docMk/>
          <pc:sldMk cId="1739450533" sldId="2147470493"/>
        </pc:sldMkLst>
      </pc:sldChg>
      <pc:sldChg chg="addSp delSp modSp mod modClrScheme modAnim chgLayout">
        <pc:chgData name="Hetvi Bhora" userId="06166e0c-1a4e-490f-8835-7633c5938692" providerId="ADAL" clId="{EB9F35C8-1422-4DA3-948B-8F652EA65F2C}" dt="2025-09-01T05:23:30.131" v="1547" actId="20577"/>
        <pc:sldMkLst>
          <pc:docMk/>
          <pc:sldMk cId="2034681921" sldId="2147470494"/>
        </pc:sldMkLst>
      </pc:sldChg>
      <pc:sldChg chg="modSp mod modAnim">
        <pc:chgData name="Hetvi Bhora" userId="06166e0c-1a4e-490f-8835-7633c5938692" providerId="ADAL" clId="{EB9F35C8-1422-4DA3-948B-8F652EA65F2C}" dt="2025-09-01T05:20:24.161" v="1514" actId="113"/>
        <pc:sldMkLst>
          <pc:docMk/>
          <pc:sldMk cId="860765087" sldId="2147470495"/>
        </pc:sldMkLst>
      </pc:sldChg>
      <pc:sldChg chg="modSp mod modAnim">
        <pc:chgData name="Hetvi Bhora" userId="06166e0c-1a4e-490f-8835-7633c5938692" providerId="ADAL" clId="{EB9F35C8-1422-4DA3-948B-8F652EA65F2C}" dt="2025-08-31T09:57:07.272" v="1024" actId="20577"/>
        <pc:sldMkLst>
          <pc:docMk/>
          <pc:sldMk cId="4084703370" sldId="2147470496"/>
        </pc:sldMkLst>
      </pc:sldChg>
      <pc:sldChg chg="addSp delSp modSp mod delAnim modAnim">
        <pc:chgData name="Hetvi Bhora" userId="06166e0c-1a4e-490f-8835-7633c5938692" providerId="ADAL" clId="{EB9F35C8-1422-4DA3-948B-8F652EA65F2C}" dt="2025-09-01T05:20:39.839" v="1516" actId="14100"/>
        <pc:sldMkLst>
          <pc:docMk/>
          <pc:sldMk cId="679362563" sldId="2147470497"/>
        </pc:sldMkLst>
      </pc:sldChg>
      <pc:sldChg chg="addSp modSp new del mod ord">
        <pc:chgData name="Hetvi Bhora" userId="06166e0c-1a4e-490f-8835-7633c5938692" providerId="ADAL" clId="{EB9F35C8-1422-4DA3-948B-8F652EA65F2C}" dt="2025-09-01T05:21:51.825" v="1524" actId="47"/>
        <pc:sldMkLst>
          <pc:docMk/>
          <pc:sldMk cId="830503417" sldId="2147470498"/>
        </pc:sldMkLst>
      </pc:sldChg>
      <pc:sldChg chg="addSp delSp modSp new mod ord modClrScheme chgLayout">
        <pc:chgData name="Hetvi Bhora" userId="06166e0c-1a4e-490f-8835-7633c5938692" providerId="ADAL" clId="{EB9F35C8-1422-4DA3-948B-8F652EA65F2C}" dt="2025-09-01T04:40:03.691" v="1509" actId="14100"/>
        <pc:sldMkLst>
          <pc:docMk/>
          <pc:sldMk cId="2617949779" sldId="2147470499"/>
        </pc:sldMkLst>
      </pc:sldChg>
      <pc:sldChg chg="addSp delSp modSp new mod ord">
        <pc:chgData name="Hetvi Bhora" userId="06166e0c-1a4e-490f-8835-7633c5938692" providerId="ADAL" clId="{EB9F35C8-1422-4DA3-948B-8F652EA65F2C}" dt="2025-09-01T03:59:14.416" v="1463" actId="478"/>
        <pc:sldMkLst>
          <pc:docMk/>
          <pc:sldMk cId="500310746" sldId="2147470500"/>
        </pc:sldMkLst>
      </pc:sldChg>
      <pc:sldChg chg="delSp modSp new mod">
        <pc:chgData name="Hetvi Bhora" userId="06166e0c-1a4e-490f-8835-7633c5938692" providerId="ADAL" clId="{EB9F35C8-1422-4DA3-948B-8F652EA65F2C}" dt="2025-09-01T05:31:36.869" v="1563" actId="14100"/>
        <pc:sldMkLst>
          <pc:docMk/>
          <pc:sldMk cId="2023526428" sldId="214747050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microsoft.com/office/2007/relationships/hdphoto" Target="../media/hdphoto3.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gif"/><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4431983"/>
          </a:xfrm>
          <a:prstGeom prst="rect">
            <a:avLst/>
          </a:prstGeom>
          <a:noFill/>
        </p:spPr>
        <p:txBody>
          <a:bodyPr wrap="square">
            <a:spAutoFit/>
          </a:bodyPr>
          <a:lstStyle/>
          <a:p>
            <a:pPr algn="ctr">
              <a:defRPr/>
            </a:pPr>
            <a:r>
              <a:rPr lang="en-US" sz="3600" b="1" dirty="0">
                <a:solidFill>
                  <a:prstClr val="white"/>
                </a:solidFill>
                <a:cs typeface="Calibri" panose="020F0502020204030204" pitchFamily="34" charset="0"/>
              </a:rPr>
              <a:t>Review III</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AI-Powered Flight Delay Predictor &amp; Analyzer</a:t>
            </a: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Hetvi Bhora</a:t>
            </a:r>
          </a:p>
          <a:p>
            <a:pPr lvl="0" algn="ctr">
              <a:defRPr/>
            </a:pPr>
            <a:r>
              <a:rPr lang="en-US" sz="2400" b="1" dirty="0">
                <a:solidFill>
                  <a:prstClr val="white"/>
                </a:solidFill>
                <a:cs typeface="Calibri" panose="020F0502020204030204" pitchFamily="34" charset="0"/>
              </a:rPr>
              <a:t>TID : T8576</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a:extLst>
              <a:ext uri="{FF2B5EF4-FFF2-40B4-BE49-F238E27FC236}">
                <a16:creationId xmlns:a16="http://schemas.microsoft.com/office/drawing/2014/main" id="{B3D78849-E5F7-1DB2-227F-14244586123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50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5996" y="1271219"/>
            <a:ext cx="10624338" cy="4142989"/>
          </a:xfrm>
        </p:spPr>
        <p:txBody>
          <a:bodyPr/>
          <a:lstStyle/>
          <a:p>
            <a:r>
              <a:rPr lang="en-US" b="0" dirty="0"/>
              <a:t>Flight delays are a major operational and customer satisfaction issue in the aviation industry.</a:t>
            </a:r>
          </a:p>
          <a:p>
            <a:r>
              <a:rPr lang="en-US" b="0" dirty="0"/>
              <a:t>This project aims to predict average flight delays for specific carriers, airports, and months.</a:t>
            </a:r>
          </a:p>
          <a:p>
            <a:r>
              <a:rPr lang="en-US" b="0" dirty="0"/>
              <a:t>It uses a combination of forecasting algorithms and machine learning models to analyze historical and operational data.</a:t>
            </a:r>
          </a:p>
          <a:p>
            <a:r>
              <a:rPr lang="en-US" b="0" dirty="0"/>
              <a:t>A Large Language Model (LLM) is integrated to generate natural language explanations of the predictions.</a:t>
            </a:r>
          </a:p>
          <a:p>
            <a:r>
              <a:rPr lang="en-US" b="0" dirty="0"/>
              <a:t>Designed to support airlines, airports, and travel platforms in making data-driven decisions.</a:t>
            </a: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255996" y="1271219"/>
            <a:ext cx="10624338" cy="4578035"/>
          </a:xfrm>
        </p:spPr>
        <p:txBody>
          <a:bodyPr/>
          <a:lstStyle/>
          <a:p>
            <a:r>
              <a:rPr lang="en-US" b="0" dirty="0">
                <a:latin typeface="+mn-lt"/>
              </a:rPr>
              <a:t>Data Collection using APIs, Scraping etc.. </a:t>
            </a:r>
          </a:p>
          <a:p>
            <a:r>
              <a:rPr lang="en-US" b="0" dirty="0">
                <a:latin typeface="+mn-lt"/>
              </a:rPr>
              <a:t>Predict average flight delay for a given carrier, airport, and month.</a:t>
            </a:r>
          </a:p>
          <a:p>
            <a:r>
              <a:rPr lang="en-US" b="0" dirty="0">
                <a:latin typeface="+mn-lt"/>
              </a:rPr>
              <a:t>Break down delay causes into categories: Carrier, Weather, NAS (National Airspace System), and Late Aircraft.</a:t>
            </a:r>
          </a:p>
          <a:p>
            <a:r>
              <a:rPr lang="en-US" b="0" dirty="0">
                <a:latin typeface="+mn-lt"/>
              </a:rPr>
              <a:t>Generate human-readable explanations using LLMs to support decision-making.</a:t>
            </a:r>
          </a:p>
          <a:p>
            <a:r>
              <a:rPr lang="en-US" b="0" dirty="0">
                <a:latin typeface="+mn-lt"/>
              </a:rPr>
              <a:t>Provide an interactive UI for users to input parameters and view predictions.</a:t>
            </a:r>
          </a:p>
          <a:p>
            <a:r>
              <a:rPr lang="en-US" b="0" dirty="0">
                <a:latin typeface="+mn-lt"/>
              </a:rPr>
              <a:t>Enable future scalability to real-time predictions and broader airport coverage.</a:t>
            </a:r>
          </a:p>
          <a:p>
            <a:endParaRPr lang="en-IN" b="0" dirty="0">
              <a:latin typeface="+mn-lt"/>
            </a:endParaRP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r>
              <a:rPr lang="en-US" sz="3600" b="1" dirty="0">
                <a:solidFill>
                  <a:srgbClr val="5B9BD5">
                    <a:lumMod val="50000"/>
                  </a:srgbClr>
                </a:solidFill>
                <a:latin typeface="Calibri" panose="020F0502020204030204"/>
              </a:rPr>
              <a:t>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452DD5-D934-4955-F39B-2109AC72692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25C8EF-A5DD-AB22-0372-51B9ABE63526}"/>
              </a:ext>
            </a:extLst>
          </p:cNvPr>
          <p:cNvSpPr>
            <a:spLocks noGrp="1"/>
          </p:cNvSpPr>
          <p:nvPr>
            <p:ph type="body" sz="quarter" idx="13"/>
          </p:nvPr>
        </p:nvSpPr>
        <p:spPr>
          <a:xfrm>
            <a:off x="255996" y="1271219"/>
            <a:ext cx="10624338" cy="4810266"/>
          </a:xfrm>
        </p:spPr>
        <p:txBody>
          <a:bodyPr/>
          <a:lstStyle/>
          <a:p>
            <a:pPr marL="457200" indent="-457200">
              <a:lnSpc>
                <a:spcPct val="100000"/>
              </a:lnSpc>
              <a:buAutoNum type="arabicPeriod"/>
            </a:pPr>
            <a:r>
              <a:rPr lang="en-US" b="0" dirty="0">
                <a:latin typeface="+mn-lt"/>
              </a:rPr>
              <a:t>Project Setup &amp; Data Collection</a:t>
            </a:r>
          </a:p>
          <a:p>
            <a:pPr marL="457200" indent="-457200">
              <a:lnSpc>
                <a:spcPct val="100000"/>
              </a:lnSpc>
              <a:buAutoNum type="arabicPeriod"/>
            </a:pPr>
            <a:r>
              <a:rPr lang="en-US" b="0" dirty="0">
                <a:latin typeface="+mn-lt"/>
              </a:rPr>
              <a:t>Data Cleaning &amp; preprocessing</a:t>
            </a:r>
          </a:p>
          <a:p>
            <a:pPr marL="457200" indent="-457200">
              <a:lnSpc>
                <a:spcPct val="100000"/>
              </a:lnSpc>
              <a:buAutoNum type="arabicPeriod"/>
            </a:pPr>
            <a:r>
              <a:rPr lang="en-US" b="0" dirty="0">
                <a:latin typeface="+mn-lt"/>
              </a:rPr>
              <a:t>Exploratory Data Analysis   </a:t>
            </a:r>
            <a:r>
              <a:rPr lang="en-US" b="0" dirty="0">
                <a:latin typeface="+mn-lt"/>
                <a:sym typeface="Wingdings" panose="05000000000000000000" pitchFamily="2" charset="2"/>
              </a:rPr>
              <a:t> </a:t>
            </a:r>
          </a:p>
          <a:p>
            <a:pPr marL="457200" indent="-457200">
              <a:lnSpc>
                <a:spcPct val="100000"/>
              </a:lnSpc>
              <a:buAutoNum type="arabicPeriod"/>
            </a:pPr>
            <a:r>
              <a:rPr lang="en-US" b="0" dirty="0">
                <a:latin typeface="+mn-lt"/>
                <a:sym typeface="Wingdings" panose="05000000000000000000" pitchFamily="2" charset="2"/>
              </a:rPr>
              <a:t>Hypothesis testing of Data</a:t>
            </a:r>
            <a:endParaRPr lang="en-US" b="0" dirty="0">
              <a:latin typeface="+mn-lt"/>
            </a:endParaRPr>
          </a:p>
          <a:p>
            <a:pPr marL="457200" indent="-457200">
              <a:lnSpc>
                <a:spcPct val="100000"/>
              </a:lnSpc>
              <a:buAutoNum type="arabicPeriod"/>
            </a:pPr>
            <a:r>
              <a:rPr lang="en-US" b="0" dirty="0">
                <a:latin typeface="+mn-lt"/>
              </a:rPr>
              <a:t>Time Series Forecasting of Delay</a:t>
            </a:r>
          </a:p>
          <a:p>
            <a:pPr marL="457200" indent="-457200">
              <a:lnSpc>
                <a:spcPct val="100000"/>
              </a:lnSpc>
              <a:buAutoNum type="arabicPeriod"/>
            </a:pPr>
            <a:r>
              <a:rPr lang="en-US" b="0" dirty="0">
                <a:latin typeface="+mn-lt"/>
              </a:rPr>
              <a:t>Delay Attribution Model</a:t>
            </a:r>
          </a:p>
          <a:p>
            <a:pPr marL="457200" indent="-457200">
              <a:lnSpc>
                <a:spcPct val="100000"/>
              </a:lnSpc>
              <a:buAutoNum type="arabicPeriod"/>
            </a:pPr>
            <a:r>
              <a:rPr lang="en-US" b="0" dirty="0">
                <a:latin typeface="+mn-lt"/>
              </a:rPr>
              <a:t>LLM Integration &amp; Explanation Generation </a:t>
            </a:r>
          </a:p>
          <a:p>
            <a:pPr marL="457200" indent="-457200">
              <a:lnSpc>
                <a:spcPct val="100000"/>
              </a:lnSpc>
              <a:buFont typeface="Arial" panose="020B0604020202020204" pitchFamily="34" charset="0"/>
              <a:buAutoNum type="arabicPeriod"/>
            </a:pPr>
            <a:r>
              <a:rPr lang="en-US" b="0" dirty="0"/>
              <a:t>User Interface &amp; Deployment</a:t>
            </a:r>
          </a:p>
          <a:p>
            <a:pPr marL="457200" indent="-457200">
              <a:lnSpc>
                <a:spcPct val="100000"/>
              </a:lnSpc>
              <a:buAutoNum type="arabicPeriod"/>
            </a:pPr>
            <a:r>
              <a:rPr lang="en-US" b="0" dirty="0">
                <a:latin typeface="+mn-lt"/>
              </a:rPr>
              <a:t>Findings &amp; Result </a:t>
            </a:r>
          </a:p>
          <a:p>
            <a:pPr marL="457200" indent="-457200">
              <a:lnSpc>
                <a:spcPct val="100000"/>
              </a:lnSpc>
              <a:buAutoNum type="arabicPeriod"/>
            </a:pPr>
            <a:endParaRPr lang="en-US" b="0" dirty="0">
              <a:latin typeface="+mn-lt"/>
            </a:endParaRPr>
          </a:p>
        </p:txBody>
      </p:sp>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Scope ( Project flow )</a:t>
            </a: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164B1-01DD-BF3B-88E8-DF2DEDBFA9EB}"/>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69C03-8E92-54D7-6EE2-33DC2B5C67B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B433ECB-8EAD-0AB5-1D66-62BCF658AA2C}"/>
              </a:ext>
            </a:extLst>
          </p:cNvPr>
          <p:cNvSpPr>
            <a:spLocks noGrp="1"/>
          </p:cNvSpPr>
          <p:nvPr>
            <p:ph type="body" sz="quarter" idx="13"/>
          </p:nvPr>
        </p:nvSpPr>
        <p:spPr>
          <a:xfrm>
            <a:off x="255996" y="1271219"/>
            <a:ext cx="10624338" cy="4395020"/>
          </a:xfrm>
        </p:spPr>
        <p:txBody>
          <a:bodyPr/>
          <a:lstStyle/>
          <a:p>
            <a:pPr marL="0" indent="0">
              <a:buNone/>
            </a:pPr>
            <a:r>
              <a:rPr lang="en-US" sz="2400" dirty="0">
                <a:latin typeface="+mn-lt"/>
              </a:rPr>
              <a:t>Paper 1:</a:t>
            </a:r>
            <a:r>
              <a:rPr lang="en-US" sz="2400" b="0" dirty="0">
                <a:latin typeface="+mn-lt"/>
              </a:rPr>
              <a:t> Integrating multiple data sources for improved flight delay prediction using explainable machine learning ( ScienceDirect ) </a:t>
            </a:r>
          </a:p>
          <a:p>
            <a:pPr marL="0" indent="0">
              <a:buNone/>
            </a:pPr>
            <a:r>
              <a:rPr lang="en-IN" sz="2400" b="0" dirty="0">
                <a:latin typeface="+mn-lt"/>
              </a:rPr>
              <a:t>Abstract- </a:t>
            </a:r>
            <a:r>
              <a:rPr lang="en-US" sz="2400" b="0" dirty="0">
                <a:latin typeface="+mn-lt"/>
              </a:rPr>
              <a:t>The paper proposes a methodology that integrates multiple data sources to improve flight delay prediction using </a:t>
            </a:r>
            <a:r>
              <a:rPr lang="en-US" sz="2400" dirty="0">
                <a:latin typeface="+mn-lt"/>
              </a:rPr>
              <a:t>explainable artificial intelligence </a:t>
            </a:r>
            <a:r>
              <a:rPr lang="en-US" sz="2400" b="0" dirty="0">
                <a:latin typeface="+mn-lt"/>
              </a:rPr>
              <a:t>(</a:t>
            </a:r>
            <a:r>
              <a:rPr lang="en-US" sz="2400" b="0" dirty="0" err="1">
                <a:latin typeface="+mn-lt"/>
              </a:rPr>
              <a:t>xAI</a:t>
            </a:r>
            <a:r>
              <a:rPr lang="en-US" sz="2400" b="0" dirty="0">
                <a:latin typeface="+mn-lt"/>
              </a:rPr>
              <a:t>). It focuses on identifying key features that influence delays and making the prediction process transparent and interpretable.</a:t>
            </a:r>
            <a:endParaRPr lang="en-IN" sz="2400" b="0" dirty="0">
              <a:latin typeface="+mn-lt"/>
            </a:endParaRPr>
          </a:p>
          <a:p>
            <a:pPr marL="0" indent="0">
              <a:buNone/>
            </a:pPr>
            <a:r>
              <a:rPr lang="en-IN" sz="2400" dirty="0">
                <a:latin typeface="+mn-lt"/>
              </a:rPr>
              <a:t>Paper 2:</a:t>
            </a:r>
            <a:r>
              <a:rPr lang="en-IN" sz="2400" b="0" dirty="0">
                <a:latin typeface="+mn-lt"/>
              </a:rPr>
              <a:t>  </a:t>
            </a:r>
            <a:r>
              <a:rPr lang="en-US" sz="2400" b="0" dirty="0">
                <a:latin typeface="+mn-lt"/>
              </a:rPr>
              <a:t>Dynamically forecasting airline departure delay probability distributions for individual flights using supervised learning </a:t>
            </a:r>
            <a:r>
              <a:rPr lang="en-US" sz="2400" b="0" dirty="0"/>
              <a:t>( ScienceDirect ) </a:t>
            </a:r>
            <a:endParaRPr lang="en-US" sz="2400" b="0" dirty="0">
              <a:latin typeface="+mn-lt"/>
            </a:endParaRPr>
          </a:p>
          <a:p>
            <a:pPr marL="0" indent="0">
              <a:buNone/>
            </a:pPr>
            <a:r>
              <a:rPr lang="en-IN" sz="2400" b="0" dirty="0">
                <a:latin typeface="+mn-lt"/>
              </a:rPr>
              <a:t>Abstract- </a:t>
            </a:r>
            <a:r>
              <a:rPr lang="en-US" sz="2400" b="0" dirty="0">
                <a:latin typeface="+mn-lt"/>
              </a:rPr>
              <a:t>The paper introduces a dynamic and probabilistic approach to forecasting departure delays for individual flights, using </a:t>
            </a:r>
            <a:r>
              <a:rPr lang="en-US" sz="2400" dirty="0">
                <a:latin typeface="+mn-lt"/>
              </a:rPr>
              <a:t>supervised learning</a:t>
            </a:r>
            <a:r>
              <a:rPr lang="en-US" sz="2400" b="0" dirty="0">
                <a:latin typeface="+mn-lt"/>
              </a:rPr>
              <a:t>. The goal is to improve operational efficiency, especially in hub-and-spoke airlines, by enabling better fuel planning and delay management.</a:t>
            </a:r>
            <a:endParaRPr lang="en-IN" sz="2400" b="0" dirty="0">
              <a:latin typeface="+mn-lt"/>
            </a:endParaRPr>
          </a:p>
          <a:p>
            <a:pPr marL="0" indent="0">
              <a:lnSpc>
                <a:spcPct val="150000"/>
              </a:lnSpc>
              <a:buNone/>
            </a:pPr>
            <a:endParaRPr lang="en-US" sz="2400" b="0" dirty="0">
              <a:latin typeface="+mn-lt"/>
            </a:endParaRPr>
          </a:p>
        </p:txBody>
      </p:sp>
      <p:sp>
        <p:nvSpPr>
          <p:cNvPr id="3" name="TextBox 2">
            <a:extLst>
              <a:ext uri="{FF2B5EF4-FFF2-40B4-BE49-F238E27FC236}">
                <a16:creationId xmlns:a16="http://schemas.microsoft.com/office/drawing/2014/main" id="{DAB3663C-4C71-EB2A-170D-22878BAC4C6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Literature Review</a:t>
            </a:r>
          </a:p>
        </p:txBody>
      </p:sp>
      <p:cxnSp>
        <p:nvCxnSpPr>
          <p:cNvPr id="5" name="Straight Connector 4">
            <a:extLst>
              <a:ext uri="{FF2B5EF4-FFF2-40B4-BE49-F238E27FC236}">
                <a16:creationId xmlns:a16="http://schemas.microsoft.com/office/drawing/2014/main" id="{B91B76A7-3EE1-470C-EBA7-8F98E8FFE105}"/>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84F4041-8131-3536-FDDF-513CA3ABA637}"/>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860765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53C69-472F-A80F-ECBC-553E043DB9C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364AF3A-1BAA-BB19-865F-8604C4E3B859}"/>
              </a:ext>
            </a:extLst>
          </p:cNvPr>
          <p:cNvSpPr>
            <a:spLocks noGrp="1"/>
          </p:cNvSpPr>
          <p:nvPr>
            <p:ph type="body" sz="quarter" idx="13"/>
          </p:nvPr>
        </p:nvSpPr>
        <p:spPr>
          <a:xfrm>
            <a:off x="255996" y="1271219"/>
            <a:ext cx="10624338" cy="4142989"/>
          </a:xfrm>
        </p:spPr>
        <p:txBody>
          <a:bodyPr/>
          <a:lstStyle/>
          <a:p>
            <a:r>
              <a:rPr lang="en-IN" b="0" dirty="0">
                <a:latin typeface="+mn-lt"/>
              </a:rPr>
              <a:t>FlightAware – Real-time flight tracking and predictive analytics</a:t>
            </a:r>
          </a:p>
          <a:p>
            <a:r>
              <a:rPr lang="en-IN" b="0" dirty="0">
                <a:latin typeface="+mn-lt"/>
              </a:rPr>
              <a:t>Airbus Skywise – Aviation data platform with predictive maintenance and delay analytics</a:t>
            </a:r>
          </a:p>
          <a:p>
            <a:r>
              <a:rPr lang="en-IN" b="0" dirty="0">
                <a:latin typeface="+mn-lt"/>
              </a:rPr>
              <a:t>GE Aviation – Fuel and delay optimization tools</a:t>
            </a:r>
          </a:p>
          <a:p>
            <a:r>
              <a:rPr lang="en-IN" b="0" dirty="0" err="1">
                <a:latin typeface="+mn-lt"/>
              </a:rPr>
              <a:t>Cirium</a:t>
            </a:r>
            <a:r>
              <a:rPr lang="en-IN" b="0" dirty="0">
                <a:latin typeface="+mn-lt"/>
              </a:rPr>
              <a:t> – Flight delay prediction and analytics</a:t>
            </a:r>
          </a:p>
          <a:p>
            <a:r>
              <a:rPr lang="en-IN" b="0" dirty="0">
                <a:latin typeface="+mn-lt"/>
              </a:rPr>
              <a:t>Lumo – Predictive flight delay alerts for </a:t>
            </a:r>
            <a:r>
              <a:rPr lang="en-IN" b="0" dirty="0" err="1">
                <a:latin typeface="+mn-lt"/>
              </a:rPr>
              <a:t>travelers</a:t>
            </a:r>
            <a:r>
              <a:rPr lang="en-IN" b="0" dirty="0">
                <a:latin typeface="+mn-lt"/>
              </a:rPr>
              <a:t> and airlines</a:t>
            </a:r>
          </a:p>
          <a:p>
            <a:r>
              <a:rPr lang="en-IN" b="0" dirty="0">
                <a:latin typeface="+mn-lt"/>
              </a:rPr>
              <a:t>FLYR Labs – AI-driven revenue and operations optimization for airlines</a:t>
            </a:r>
          </a:p>
          <a:p>
            <a:endParaRPr lang="en-IN" b="0" dirty="0">
              <a:latin typeface="+mn-lt"/>
            </a:endParaRPr>
          </a:p>
        </p:txBody>
      </p:sp>
      <p:sp>
        <p:nvSpPr>
          <p:cNvPr id="3" name="TextBox 2">
            <a:extLst>
              <a:ext uri="{FF2B5EF4-FFF2-40B4-BE49-F238E27FC236}">
                <a16:creationId xmlns:a16="http://schemas.microsoft.com/office/drawing/2014/main" id="{C7C2521A-B8A4-7818-FEB4-0309182DBEC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Industry Resources</a:t>
            </a:r>
          </a:p>
        </p:txBody>
      </p:sp>
      <p:cxnSp>
        <p:nvCxnSpPr>
          <p:cNvPr id="5" name="Straight Connector 4">
            <a:extLst>
              <a:ext uri="{FF2B5EF4-FFF2-40B4-BE49-F238E27FC236}">
                <a16:creationId xmlns:a16="http://schemas.microsoft.com/office/drawing/2014/main" id="{76871527-EAED-D60A-DB4D-12A2CE4201D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EADF6DB-6CFE-DDC5-997C-E84EE1A9470D}"/>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4084703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Tech Stack</a:t>
            </a: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graphicFrame>
        <p:nvGraphicFramePr>
          <p:cNvPr id="8" name="Table 7">
            <a:extLst>
              <a:ext uri="{FF2B5EF4-FFF2-40B4-BE49-F238E27FC236}">
                <a16:creationId xmlns:a16="http://schemas.microsoft.com/office/drawing/2014/main" id="{9DA18997-EBCD-7962-E91C-418D211C7575}"/>
              </a:ext>
            </a:extLst>
          </p:cNvPr>
          <p:cNvGraphicFramePr>
            <a:graphicFrameLocks noGrp="1"/>
          </p:cNvGraphicFramePr>
          <p:nvPr>
            <p:extLst>
              <p:ext uri="{D42A27DB-BD31-4B8C-83A1-F6EECF244321}">
                <p14:modId xmlns:p14="http://schemas.microsoft.com/office/powerpoint/2010/main" val="3685314157"/>
              </p:ext>
            </p:extLst>
          </p:nvPr>
        </p:nvGraphicFramePr>
        <p:xfrm>
          <a:off x="355599" y="1443791"/>
          <a:ext cx="10408654" cy="3465084"/>
        </p:xfrm>
        <a:graphic>
          <a:graphicData uri="http://schemas.openxmlformats.org/drawingml/2006/table">
            <a:tbl>
              <a:tblPr firstRow="1" bandRow="1">
                <a:tableStyleId>{5C22544A-7EE6-4342-B048-85BDC9FD1C3A}</a:tableStyleId>
              </a:tblPr>
              <a:tblGrid>
                <a:gridCol w="5204327">
                  <a:extLst>
                    <a:ext uri="{9D8B030D-6E8A-4147-A177-3AD203B41FA5}">
                      <a16:colId xmlns:a16="http://schemas.microsoft.com/office/drawing/2014/main" val="1144383774"/>
                    </a:ext>
                  </a:extLst>
                </a:gridCol>
                <a:gridCol w="5204327">
                  <a:extLst>
                    <a:ext uri="{9D8B030D-6E8A-4147-A177-3AD203B41FA5}">
                      <a16:colId xmlns:a16="http://schemas.microsoft.com/office/drawing/2014/main" val="2662263483"/>
                    </a:ext>
                  </a:extLst>
                </a:gridCol>
              </a:tblGrid>
              <a:tr h="495012">
                <a:tc>
                  <a:txBody>
                    <a:bodyPr/>
                    <a:lstStyle/>
                    <a:p>
                      <a:r>
                        <a:rPr lang="en-US" dirty="0"/>
                        <a:t>Steps</a:t>
                      </a:r>
                      <a:endParaRPr lang="en-IN" dirty="0"/>
                    </a:p>
                  </a:txBody>
                  <a:tcPr/>
                </a:tc>
                <a:tc>
                  <a:txBody>
                    <a:bodyPr/>
                    <a:lstStyle/>
                    <a:p>
                      <a:r>
                        <a:rPr lang="en-US" dirty="0"/>
                        <a:t>Tools/Library/Framework</a:t>
                      </a:r>
                      <a:endParaRPr lang="en-IN" dirty="0"/>
                    </a:p>
                  </a:txBody>
                  <a:tcPr/>
                </a:tc>
                <a:extLst>
                  <a:ext uri="{0D108BD9-81ED-4DB2-BD59-A6C34878D82A}">
                    <a16:rowId xmlns:a16="http://schemas.microsoft.com/office/drawing/2014/main" val="1141426329"/>
                  </a:ext>
                </a:extLst>
              </a:tr>
              <a:tr h="495012">
                <a:tc>
                  <a:txBody>
                    <a:bodyPr/>
                    <a:lstStyle/>
                    <a:p>
                      <a:r>
                        <a:rPr lang="en-US" dirty="0"/>
                        <a:t>Data Collection</a:t>
                      </a:r>
                      <a:endParaRPr lang="en-IN" dirty="0"/>
                    </a:p>
                  </a:txBody>
                  <a:tcPr/>
                </a:tc>
                <a:tc>
                  <a:txBody>
                    <a:bodyPr/>
                    <a:lstStyle/>
                    <a:p>
                      <a:r>
                        <a:rPr lang="en-US" dirty="0"/>
                        <a:t>Python, APIs, BTS, NOAA </a:t>
                      </a:r>
                      <a:endParaRPr lang="en-IN" dirty="0"/>
                    </a:p>
                  </a:txBody>
                  <a:tcPr/>
                </a:tc>
                <a:extLst>
                  <a:ext uri="{0D108BD9-81ED-4DB2-BD59-A6C34878D82A}">
                    <a16:rowId xmlns:a16="http://schemas.microsoft.com/office/drawing/2014/main" val="754522278"/>
                  </a:ext>
                </a:extLst>
              </a:tr>
              <a:tr h="495012">
                <a:tc>
                  <a:txBody>
                    <a:bodyPr/>
                    <a:lstStyle/>
                    <a:p>
                      <a:r>
                        <a:rPr lang="en-US" dirty="0"/>
                        <a:t>Forecasting</a:t>
                      </a:r>
                    </a:p>
                  </a:txBody>
                  <a:tcPr/>
                </a:tc>
                <a:tc>
                  <a:txBody>
                    <a:bodyPr/>
                    <a:lstStyle/>
                    <a:p>
                      <a:r>
                        <a:rPr lang="en-US" dirty="0"/>
                        <a:t>Prophet / ARIMA / SARIMAX</a:t>
                      </a:r>
                      <a:endParaRPr lang="en-IN" dirty="0"/>
                    </a:p>
                  </a:txBody>
                  <a:tcPr/>
                </a:tc>
                <a:extLst>
                  <a:ext uri="{0D108BD9-81ED-4DB2-BD59-A6C34878D82A}">
                    <a16:rowId xmlns:a16="http://schemas.microsoft.com/office/drawing/2014/main" val="1803479637"/>
                  </a:ext>
                </a:extLst>
              </a:tr>
              <a:tr h="495012">
                <a:tc>
                  <a:txBody>
                    <a:bodyPr/>
                    <a:lstStyle/>
                    <a:p>
                      <a:r>
                        <a:rPr lang="en-US" dirty="0"/>
                        <a:t>Attribution Modelling </a:t>
                      </a:r>
                      <a:endParaRPr lang="en-IN" dirty="0"/>
                    </a:p>
                  </a:txBody>
                  <a:tcPr/>
                </a:tc>
                <a:tc>
                  <a:txBody>
                    <a:bodyPr/>
                    <a:lstStyle/>
                    <a:p>
                      <a:r>
                        <a:rPr lang="en-US" dirty="0"/>
                        <a:t>Multi-output regression model</a:t>
                      </a:r>
                      <a:endParaRPr lang="en-IN" dirty="0"/>
                    </a:p>
                  </a:txBody>
                  <a:tcPr/>
                </a:tc>
                <a:extLst>
                  <a:ext uri="{0D108BD9-81ED-4DB2-BD59-A6C34878D82A}">
                    <a16:rowId xmlns:a16="http://schemas.microsoft.com/office/drawing/2014/main" val="4051115093"/>
                  </a:ext>
                </a:extLst>
              </a:tr>
              <a:tr h="495012">
                <a:tc>
                  <a:txBody>
                    <a:bodyPr/>
                    <a:lstStyle/>
                    <a:p>
                      <a:r>
                        <a:rPr lang="en-US" dirty="0"/>
                        <a:t>LLM Explanation</a:t>
                      </a:r>
                      <a:endParaRPr lang="en-IN" dirty="0"/>
                    </a:p>
                  </a:txBody>
                  <a:tcPr/>
                </a:tc>
                <a:tc>
                  <a:txBody>
                    <a:bodyPr/>
                    <a:lstStyle/>
                    <a:p>
                      <a:r>
                        <a:rPr lang="en-US" dirty="0"/>
                        <a:t>GPT-4, LangChain ( optional )</a:t>
                      </a:r>
                      <a:endParaRPr lang="en-IN" dirty="0"/>
                    </a:p>
                  </a:txBody>
                  <a:tcPr/>
                </a:tc>
                <a:extLst>
                  <a:ext uri="{0D108BD9-81ED-4DB2-BD59-A6C34878D82A}">
                    <a16:rowId xmlns:a16="http://schemas.microsoft.com/office/drawing/2014/main" val="2687515523"/>
                  </a:ext>
                </a:extLst>
              </a:tr>
              <a:tr h="495012">
                <a:tc>
                  <a:txBody>
                    <a:bodyPr/>
                    <a:lstStyle/>
                    <a:p>
                      <a:r>
                        <a:rPr lang="en-US" dirty="0"/>
                        <a:t>Interface</a:t>
                      </a:r>
                      <a:endParaRPr lang="en-IN" dirty="0"/>
                    </a:p>
                  </a:txBody>
                  <a:tcPr/>
                </a:tc>
                <a:tc>
                  <a:txBody>
                    <a:bodyPr/>
                    <a:lstStyle/>
                    <a:p>
                      <a:r>
                        <a:rPr lang="en-US" dirty="0"/>
                        <a:t>Streamlit / Flask</a:t>
                      </a:r>
                      <a:endParaRPr lang="en-IN" dirty="0"/>
                    </a:p>
                  </a:txBody>
                  <a:tcPr/>
                </a:tc>
                <a:extLst>
                  <a:ext uri="{0D108BD9-81ED-4DB2-BD59-A6C34878D82A}">
                    <a16:rowId xmlns:a16="http://schemas.microsoft.com/office/drawing/2014/main" val="1203359648"/>
                  </a:ext>
                </a:extLst>
              </a:tr>
              <a:tr h="495012">
                <a:tc>
                  <a:txBody>
                    <a:bodyPr/>
                    <a:lstStyle/>
                    <a:p>
                      <a:r>
                        <a:rPr lang="en-US" dirty="0"/>
                        <a:t>Deployment</a:t>
                      </a:r>
                      <a:endParaRPr lang="en-IN" dirty="0"/>
                    </a:p>
                  </a:txBody>
                  <a:tcPr/>
                </a:tc>
                <a:tc>
                  <a:txBody>
                    <a:bodyPr/>
                    <a:lstStyle/>
                    <a:p>
                      <a:r>
                        <a:rPr lang="en-US" dirty="0"/>
                        <a:t>Docker, AWS, GitHub Actions</a:t>
                      </a:r>
                      <a:endParaRPr lang="en-IN" dirty="0"/>
                    </a:p>
                  </a:txBody>
                  <a:tcPr/>
                </a:tc>
                <a:extLst>
                  <a:ext uri="{0D108BD9-81ED-4DB2-BD59-A6C34878D82A}">
                    <a16:rowId xmlns:a16="http://schemas.microsoft.com/office/drawing/2014/main" val="2694491201"/>
                  </a:ext>
                </a:extLst>
              </a:tr>
            </a:tbl>
          </a:graphicData>
        </a:graphic>
      </p:graphicFrame>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F0A9E7B-5623-AF94-F3EE-782A111D63FD}"/>
              </a:ext>
            </a:extLst>
          </p:cNvPr>
          <p:cNvSpPr>
            <a:spLocks noGrp="1"/>
          </p:cNvSpPr>
          <p:nvPr>
            <p:ph type="body" sz="quarter" idx="15"/>
          </p:nvPr>
        </p:nvSpPr>
        <p:spPr>
          <a:xfrm>
            <a:off x="255996" y="629525"/>
            <a:ext cx="10624338" cy="994883"/>
          </a:xfrm>
        </p:spPr>
        <p:txBody>
          <a:bodyPr/>
          <a:lstStyle/>
          <a:p>
            <a:pPr marL="0" indent="0">
              <a:buNone/>
            </a:pPr>
            <a:r>
              <a:rPr lang="en-US" sz="3600" dirty="0">
                <a:latin typeface="+mn-lt"/>
              </a:rPr>
              <a:t>Architecture Diagram : AI-powered Flight Delay Predictor &amp; Analyzer </a:t>
            </a:r>
            <a:endParaRPr lang="en-IN" sz="3600" dirty="0">
              <a:latin typeface="+mn-lt"/>
            </a:endParaRPr>
          </a:p>
        </p:txBody>
      </p:sp>
      <p:cxnSp>
        <p:nvCxnSpPr>
          <p:cNvPr id="10" name="Straight Connector 9">
            <a:extLst>
              <a:ext uri="{FF2B5EF4-FFF2-40B4-BE49-F238E27FC236}">
                <a16:creationId xmlns:a16="http://schemas.microsoft.com/office/drawing/2014/main" id="{D18C0CFE-CB7E-84CF-B2CB-A68F7A6AEA26}"/>
              </a:ext>
            </a:extLst>
          </p:cNvPr>
          <p:cNvCxnSpPr>
            <a:cxnSpLocks/>
          </p:cNvCxnSpPr>
          <p:nvPr/>
        </p:nvCxnSpPr>
        <p:spPr>
          <a:xfrm>
            <a:off x="348274" y="17251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pic>
        <p:nvPicPr>
          <p:cNvPr id="4" name="Picture 3" descr="A diagram of a computer&#10;&#10;AI-generated content may be incorrect.">
            <a:extLst>
              <a:ext uri="{FF2B5EF4-FFF2-40B4-BE49-F238E27FC236}">
                <a16:creationId xmlns:a16="http://schemas.microsoft.com/office/drawing/2014/main" id="{509CE173-C101-E69A-7EA8-0A075F3BC6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8417" y="1825902"/>
            <a:ext cx="7942583" cy="4823464"/>
          </a:xfrm>
          <a:prstGeom prst="rect">
            <a:avLst/>
          </a:prstGeom>
        </p:spPr>
      </p:pic>
    </p:spTree>
    <p:extLst>
      <p:ext uri="{BB962C8B-B14F-4D97-AF65-F5344CB8AC3E}">
        <p14:creationId xmlns:p14="http://schemas.microsoft.com/office/powerpoint/2010/main" val="2617949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8B98F70-4E00-7B3B-8ED9-7C08CF3D2B7D}"/>
              </a:ext>
            </a:extLst>
          </p:cNvPr>
          <p:cNvSpPr>
            <a:spLocks noGrp="1"/>
          </p:cNvSpPr>
          <p:nvPr>
            <p:ph type="body" sz="quarter" idx="15"/>
          </p:nvPr>
        </p:nvSpPr>
        <p:spPr/>
        <p:txBody>
          <a:bodyPr/>
          <a:lstStyle/>
          <a:p>
            <a:r>
              <a:rPr lang="en-US" dirty="0"/>
              <a:t>Gantt Chart: </a:t>
            </a:r>
            <a:endParaRPr lang="en-IN" dirty="0"/>
          </a:p>
        </p:txBody>
      </p:sp>
      <p:pic>
        <p:nvPicPr>
          <p:cNvPr id="2051" name="Picture 3" descr="Attachments">
            <a:extLst>
              <a:ext uri="{FF2B5EF4-FFF2-40B4-BE49-F238E27FC236}">
                <a16:creationId xmlns:a16="http://schemas.microsoft.com/office/drawing/2014/main" id="{AD7A3D14-50F0-CB33-12CB-30F9AF3B6A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250" y="280035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419AB5BF-E067-C595-8CEC-FE552C21B7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025" y="280035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chart with text on it&#10;&#10;AI-generated content may be incorrect.">
            <a:extLst>
              <a:ext uri="{FF2B5EF4-FFF2-40B4-BE49-F238E27FC236}">
                <a16:creationId xmlns:a16="http://schemas.microsoft.com/office/drawing/2014/main" id="{A35DBC39-5863-CFF5-F0AB-D971C47E7D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0072" y="607773"/>
            <a:ext cx="7494267" cy="5620701"/>
          </a:xfrm>
          <a:prstGeom prst="rect">
            <a:avLst/>
          </a:prstGeom>
        </p:spPr>
      </p:pic>
    </p:spTree>
    <p:extLst>
      <p:ext uri="{BB962C8B-B14F-4D97-AF65-F5344CB8AC3E}">
        <p14:creationId xmlns:p14="http://schemas.microsoft.com/office/powerpoint/2010/main" val="500310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19087-985E-73E3-351E-5058A2440BF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9941EF4-1E32-0429-D19F-902065BCA18A}"/>
              </a:ext>
            </a:extLst>
          </p:cNvPr>
          <p:cNvSpPr>
            <a:spLocks noGrp="1"/>
          </p:cNvSpPr>
          <p:nvPr>
            <p:ph type="body" sz="quarter" idx="13"/>
          </p:nvPr>
        </p:nvSpPr>
        <p:spPr>
          <a:xfrm>
            <a:off x="255996" y="1271219"/>
            <a:ext cx="10624338" cy="4142989"/>
          </a:xfrm>
        </p:spPr>
        <p:txBody>
          <a:bodyPr/>
          <a:lstStyle/>
          <a:p>
            <a:r>
              <a:rPr lang="en-US" b="0" dirty="0">
                <a:latin typeface="+mn-lt"/>
              </a:rPr>
              <a:t>Project setup is done in Vscode.</a:t>
            </a:r>
          </a:p>
          <a:p>
            <a:r>
              <a:rPr lang="en-US" b="0" dirty="0">
                <a:latin typeface="+mn-lt"/>
              </a:rPr>
              <a:t>Data Collection is done from the website named “Bureau of Transportation &amp; Statistics” ( BTS ) which contains data of United States Department of Transportation.</a:t>
            </a:r>
          </a:p>
          <a:p>
            <a:r>
              <a:rPr lang="en-US" b="0" dirty="0">
                <a:latin typeface="+mn-lt"/>
              </a:rPr>
              <a:t>It contained many columns like </a:t>
            </a:r>
            <a:r>
              <a:rPr lang="en-IN" b="0" dirty="0"/>
              <a:t>year,</a:t>
            </a:r>
            <a:r>
              <a:rPr lang="en-IN" dirty="0"/>
              <a:t> </a:t>
            </a:r>
            <a:r>
              <a:rPr lang="en-IN" b="0" dirty="0"/>
              <a:t>month,</a:t>
            </a:r>
            <a:r>
              <a:rPr lang="en-IN" dirty="0"/>
              <a:t> </a:t>
            </a:r>
            <a:r>
              <a:rPr lang="en-IN" b="0" dirty="0"/>
              <a:t>carrier,</a:t>
            </a:r>
            <a:r>
              <a:rPr lang="en-IN" dirty="0"/>
              <a:t> </a:t>
            </a:r>
            <a:r>
              <a:rPr lang="en-IN" b="0" dirty="0"/>
              <a:t>carrier_name,</a:t>
            </a:r>
            <a:r>
              <a:rPr lang="en-IN" dirty="0"/>
              <a:t> </a:t>
            </a:r>
            <a:r>
              <a:rPr lang="en-IN" b="0" dirty="0"/>
              <a:t>airport,</a:t>
            </a:r>
            <a:r>
              <a:rPr lang="en-IN" dirty="0"/>
              <a:t> </a:t>
            </a:r>
            <a:r>
              <a:rPr lang="en-IN" b="0" dirty="0"/>
              <a:t>airport_name,</a:t>
            </a:r>
            <a:r>
              <a:rPr lang="en-IN" dirty="0"/>
              <a:t> </a:t>
            </a:r>
            <a:r>
              <a:rPr lang="en-IN" b="0" dirty="0"/>
              <a:t>arr_flights,</a:t>
            </a:r>
            <a:r>
              <a:rPr lang="en-IN" dirty="0"/>
              <a:t> </a:t>
            </a:r>
            <a:r>
              <a:rPr lang="en-IN" b="0" dirty="0"/>
              <a:t>carrier_ct,</a:t>
            </a:r>
            <a:r>
              <a:rPr lang="en-IN" dirty="0"/>
              <a:t> </a:t>
            </a:r>
            <a:r>
              <a:rPr lang="en-IN" b="0" dirty="0"/>
              <a:t>weather_ct,</a:t>
            </a:r>
            <a:r>
              <a:rPr lang="en-IN" dirty="0"/>
              <a:t> </a:t>
            </a:r>
            <a:r>
              <a:rPr lang="en-IN" b="0" dirty="0"/>
              <a:t>nas_ct,</a:t>
            </a:r>
            <a:r>
              <a:rPr lang="en-IN" dirty="0"/>
              <a:t> </a:t>
            </a:r>
            <a:r>
              <a:rPr lang="en-IN" b="0" dirty="0"/>
              <a:t>security_ct,</a:t>
            </a:r>
            <a:r>
              <a:rPr lang="en-IN" dirty="0"/>
              <a:t> </a:t>
            </a:r>
            <a:r>
              <a:rPr lang="en-IN" b="0" dirty="0"/>
              <a:t>late_aircraft_ct,</a:t>
            </a:r>
            <a:r>
              <a:rPr lang="en-IN" dirty="0"/>
              <a:t> </a:t>
            </a:r>
            <a:r>
              <a:rPr lang="en-IN" b="0" dirty="0"/>
              <a:t>arr_diverted,</a:t>
            </a:r>
            <a:r>
              <a:rPr lang="en-IN" dirty="0"/>
              <a:t> </a:t>
            </a:r>
            <a:r>
              <a:rPr lang="en-IN" b="0" dirty="0"/>
              <a:t>arr_delay</a:t>
            </a:r>
            <a:r>
              <a:rPr lang="en-IN" dirty="0"/>
              <a:t> </a:t>
            </a:r>
            <a:r>
              <a:rPr lang="en-IN" b="0" dirty="0"/>
              <a:t>carrier_delay</a:t>
            </a:r>
            <a:r>
              <a:rPr lang="en-IN" dirty="0"/>
              <a:t> </a:t>
            </a:r>
            <a:r>
              <a:rPr lang="en-IN" b="0" dirty="0"/>
              <a:t>weather_delay</a:t>
            </a:r>
            <a:r>
              <a:rPr lang="en-IN" dirty="0"/>
              <a:t> </a:t>
            </a:r>
            <a:r>
              <a:rPr lang="en-IN" b="0" dirty="0"/>
              <a:t>nas_delay</a:t>
            </a:r>
            <a:r>
              <a:rPr lang="en-IN" dirty="0"/>
              <a:t> </a:t>
            </a:r>
            <a:r>
              <a:rPr lang="en-IN" b="0" dirty="0"/>
              <a:t>security_delay</a:t>
            </a:r>
            <a:r>
              <a:rPr lang="en-IN" dirty="0"/>
              <a:t> </a:t>
            </a:r>
            <a:r>
              <a:rPr lang="en-IN" b="0" dirty="0"/>
              <a:t>late_aircraft_delay</a:t>
            </a:r>
            <a:r>
              <a:rPr lang="en-IN" dirty="0"/>
              <a:t> </a:t>
            </a:r>
            <a:r>
              <a:rPr lang="en-US" b="0" dirty="0">
                <a:latin typeface="+mn-lt"/>
              </a:rPr>
              <a:t> and many more.</a:t>
            </a:r>
          </a:p>
          <a:p>
            <a:endParaRPr lang="en-US" b="0" dirty="0">
              <a:latin typeface="+mn-lt"/>
            </a:endParaRPr>
          </a:p>
        </p:txBody>
      </p:sp>
      <p:sp>
        <p:nvSpPr>
          <p:cNvPr id="3" name="TextBox 2">
            <a:extLst>
              <a:ext uri="{FF2B5EF4-FFF2-40B4-BE49-F238E27FC236}">
                <a16:creationId xmlns:a16="http://schemas.microsoft.com/office/drawing/2014/main" id="{A7C86325-400F-D98B-5CA0-EACB62939DA1}"/>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1: Project setup &amp; Data Collection</a:t>
            </a:r>
          </a:p>
        </p:txBody>
      </p:sp>
      <p:cxnSp>
        <p:nvCxnSpPr>
          <p:cNvPr id="5" name="Straight Connector 4">
            <a:extLst>
              <a:ext uri="{FF2B5EF4-FFF2-40B4-BE49-F238E27FC236}">
                <a16:creationId xmlns:a16="http://schemas.microsoft.com/office/drawing/2014/main" id="{9E42C317-6A4B-8AC2-67E9-123DD9AFA34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EF0F844-B6B5-1018-248A-AEBDC3F8D220}"/>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3948066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2B323-80DB-58AA-FCCD-F1EB7D1B8E5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0DC2612-7D48-CFC5-66AF-14D6C960FF52}"/>
              </a:ext>
            </a:extLst>
          </p:cNvPr>
          <p:cNvSpPr>
            <a:spLocks noGrp="1"/>
          </p:cNvSpPr>
          <p:nvPr>
            <p:ph type="body" sz="quarter" idx="13"/>
          </p:nvPr>
        </p:nvSpPr>
        <p:spPr>
          <a:xfrm>
            <a:off x="521110" y="1759975"/>
            <a:ext cx="10359224" cy="3487084"/>
          </a:xfrm>
        </p:spPr>
        <p:txBody>
          <a:bodyPr/>
          <a:lstStyle/>
          <a:p>
            <a:pPr marL="0" indent="0">
              <a:buNone/>
            </a:pPr>
            <a:r>
              <a:rPr lang="en-US" b="0" dirty="0">
                <a:latin typeface="+mn-lt"/>
              </a:rPr>
              <a:t>After the data is collected, we proceed with data cleaning where:</a:t>
            </a:r>
          </a:p>
          <a:p>
            <a:r>
              <a:rPr lang="en-US" b="0" dirty="0">
                <a:latin typeface="+mn-lt"/>
              </a:rPr>
              <a:t>Some null values are dropped and duplicates are removed</a:t>
            </a:r>
          </a:p>
          <a:p>
            <a:r>
              <a:rPr lang="en-US" b="0" dirty="0">
                <a:latin typeface="+mn-lt"/>
              </a:rPr>
              <a:t>Created a proper datetime column for grouping</a:t>
            </a:r>
          </a:p>
          <a:p>
            <a:r>
              <a:rPr lang="en-US" b="0" dirty="0">
                <a:latin typeface="+mn-lt"/>
              </a:rPr>
              <a:t>Renamed the columns according to the usage </a:t>
            </a:r>
          </a:p>
          <a:p>
            <a:r>
              <a:rPr lang="en-US" b="0" dirty="0">
                <a:latin typeface="+mn-lt"/>
              </a:rPr>
              <a:t>Feature selection to retain only relevant features </a:t>
            </a:r>
          </a:p>
          <a:p>
            <a:endParaRPr lang="en-US" b="0" dirty="0">
              <a:latin typeface="+mn-lt"/>
            </a:endParaRPr>
          </a:p>
          <a:p>
            <a:endParaRPr lang="en-US" b="0" dirty="0">
              <a:latin typeface="+mn-lt"/>
            </a:endParaRPr>
          </a:p>
          <a:p>
            <a:endParaRPr lang="en-US" b="0" dirty="0">
              <a:latin typeface="+mn-lt"/>
            </a:endParaRPr>
          </a:p>
        </p:txBody>
      </p:sp>
      <p:sp>
        <p:nvSpPr>
          <p:cNvPr id="3" name="TextBox 2">
            <a:extLst>
              <a:ext uri="{FF2B5EF4-FFF2-40B4-BE49-F238E27FC236}">
                <a16:creationId xmlns:a16="http://schemas.microsoft.com/office/drawing/2014/main" id="{942DA352-AA8E-A8EC-5F2A-665646F269E3}"/>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a:t>
            </a:r>
            <a:r>
              <a:rPr lang="en-US" sz="3600" b="1" dirty="0">
                <a:solidFill>
                  <a:srgbClr val="5B9BD5">
                    <a:lumMod val="50000"/>
                  </a:srgbClr>
                </a:solidFill>
                <a:latin typeface="Calibri" panose="020F0502020204030204"/>
              </a:rPr>
              <a:t>2</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Data Cleaning &amp; Preprocessing</a:t>
            </a:r>
          </a:p>
        </p:txBody>
      </p:sp>
      <p:cxnSp>
        <p:nvCxnSpPr>
          <p:cNvPr id="5" name="Straight Connector 4">
            <a:extLst>
              <a:ext uri="{FF2B5EF4-FFF2-40B4-BE49-F238E27FC236}">
                <a16:creationId xmlns:a16="http://schemas.microsoft.com/office/drawing/2014/main" id="{798871B2-D936-EF3D-9043-38CE94162CE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2E7D4D8-021F-D12F-8999-9D3B1A52D6A4}"/>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1221131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20B00-4661-F039-3477-126A4920D7A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13FFF43-4E9B-70C8-D7B5-8E2CB98BFD61}"/>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3: Exploratory Data Analysis</a:t>
            </a:r>
          </a:p>
        </p:txBody>
      </p:sp>
      <p:cxnSp>
        <p:nvCxnSpPr>
          <p:cNvPr id="5" name="Straight Connector 4">
            <a:extLst>
              <a:ext uri="{FF2B5EF4-FFF2-40B4-BE49-F238E27FC236}">
                <a16:creationId xmlns:a16="http://schemas.microsoft.com/office/drawing/2014/main" id="{AC6A0B17-DEBA-214A-716C-576CB8C75223}"/>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8A16E06-260E-EB99-6D48-2216B9139C5E}"/>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pic>
        <p:nvPicPr>
          <p:cNvPr id="7" name="Picture 6">
            <a:extLst>
              <a:ext uri="{FF2B5EF4-FFF2-40B4-BE49-F238E27FC236}">
                <a16:creationId xmlns:a16="http://schemas.microsoft.com/office/drawing/2014/main" id="{1AF1DBF5-F8FC-566B-A434-1EB91406D710}"/>
              </a:ext>
            </a:extLst>
          </p:cNvPr>
          <p:cNvPicPr>
            <a:picLocks noChangeAspect="1"/>
          </p:cNvPicPr>
          <p:nvPr/>
        </p:nvPicPr>
        <p:blipFill>
          <a:blip r:embed="rId2"/>
          <a:stretch>
            <a:fillRect/>
          </a:stretch>
        </p:blipFill>
        <p:spPr>
          <a:xfrm>
            <a:off x="374709" y="1305767"/>
            <a:ext cx="4384104" cy="2909406"/>
          </a:xfrm>
          <a:prstGeom prst="rect">
            <a:avLst/>
          </a:prstGeom>
        </p:spPr>
      </p:pic>
      <p:pic>
        <p:nvPicPr>
          <p:cNvPr id="9" name="Picture 8">
            <a:extLst>
              <a:ext uri="{FF2B5EF4-FFF2-40B4-BE49-F238E27FC236}">
                <a16:creationId xmlns:a16="http://schemas.microsoft.com/office/drawing/2014/main" id="{8CCBB094-9EC7-D8F2-326C-E05718E9EB7D}"/>
              </a:ext>
            </a:extLst>
          </p:cNvPr>
          <p:cNvPicPr>
            <a:picLocks noChangeAspect="1"/>
          </p:cNvPicPr>
          <p:nvPr/>
        </p:nvPicPr>
        <p:blipFill>
          <a:blip r:embed="rId3"/>
          <a:stretch>
            <a:fillRect/>
          </a:stretch>
        </p:blipFill>
        <p:spPr>
          <a:xfrm>
            <a:off x="5193277" y="1323637"/>
            <a:ext cx="4479824" cy="2934537"/>
          </a:xfrm>
          <a:prstGeom prst="rect">
            <a:avLst/>
          </a:prstGeom>
        </p:spPr>
      </p:pic>
      <p:sp>
        <p:nvSpPr>
          <p:cNvPr id="24" name="Text Placeholder 1">
            <a:extLst>
              <a:ext uri="{FF2B5EF4-FFF2-40B4-BE49-F238E27FC236}">
                <a16:creationId xmlns:a16="http://schemas.microsoft.com/office/drawing/2014/main" id="{901F3753-DFF5-1ED0-D36C-9E4F80069D90}"/>
              </a:ext>
            </a:extLst>
          </p:cNvPr>
          <p:cNvSpPr>
            <a:spLocks noGrp="1"/>
          </p:cNvSpPr>
          <p:nvPr>
            <p:ph type="body" sz="quarter" idx="13"/>
          </p:nvPr>
        </p:nvSpPr>
        <p:spPr>
          <a:xfrm>
            <a:off x="521110" y="4390055"/>
            <a:ext cx="10359224" cy="1965400"/>
          </a:xfrm>
        </p:spPr>
        <p:txBody>
          <a:bodyPr/>
          <a:lstStyle/>
          <a:p>
            <a:r>
              <a:rPr lang="en-US" b="0" dirty="0">
                <a:solidFill>
                  <a:schemeClr val="accent1"/>
                </a:solidFill>
                <a:latin typeface="+mn-lt"/>
                <a:ea typeface="Segoe UI Symbol" panose="020B0502040204020203" pitchFamily="34" charset="0"/>
              </a:rPr>
              <a:t>The distribution of </a:t>
            </a:r>
            <a:r>
              <a:rPr lang="en-US" dirty="0">
                <a:solidFill>
                  <a:schemeClr val="accent1"/>
                </a:solidFill>
                <a:latin typeface="+mn-lt"/>
                <a:ea typeface="Segoe UI Symbol" panose="020B0502040204020203" pitchFamily="34" charset="0"/>
              </a:rPr>
              <a:t>average delays </a:t>
            </a:r>
            <a:r>
              <a:rPr lang="en-US" b="0" dirty="0">
                <a:solidFill>
                  <a:schemeClr val="accent1"/>
                </a:solidFill>
                <a:latin typeface="+mn-lt"/>
                <a:ea typeface="Segoe UI Symbol" panose="020B0502040204020203" pitchFamily="34" charset="0"/>
              </a:rPr>
              <a:t>is highly right-skewed with extreme outliers inflating the scale. After applying a log transformation, the data reveals a more normal-like pattern, showing that most flights face moderate delays while a few experience very large disruptions.</a:t>
            </a:r>
          </a:p>
          <a:p>
            <a:endParaRPr lang="en-US" b="0" dirty="0">
              <a:solidFill>
                <a:schemeClr val="accent1"/>
              </a:solidFill>
              <a:latin typeface="+mn-lt"/>
              <a:ea typeface="Segoe UI Symbol" panose="020B0502040204020203" pitchFamily="34" charset="0"/>
            </a:endParaRPr>
          </a:p>
        </p:txBody>
      </p:sp>
    </p:spTree>
    <p:extLst>
      <p:ext uri="{BB962C8B-B14F-4D97-AF65-F5344CB8AC3E}">
        <p14:creationId xmlns:p14="http://schemas.microsoft.com/office/powerpoint/2010/main" val="967039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75A64-D729-A875-0D1B-F15B70B4279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6350175-B0E6-A45F-1B11-CE21BD0CD645}"/>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3: Exploratory Data Analysis</a:t>
            </a:r>
          </a:p>
        </p:txBody>
      </p:sp>
      <p:cxnSp>
        <p:nvCxnSpPr>
          <p:cNvPr id="5" name="Straight Connector 4">
            <a:extLst>
              <a:ext uri="{FF2B5EF4-FFF2-40B4-BE49-F238E27FC236}">
                <a16:creationId xmlns:a16="http://schemas.microsoft.com/office/drawing/2014/main" id="{B1C8C6A6-5E48-BC20-940C-01BF9F9DA2F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5E68781-2BDC-EAF3-5D49-CCAFDA73C065}"/>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
        <p:nvSpPr>
          <p:cNvPr id="24" name="Text Placeholder 1">
            <a:extLst>
              <a:ext uri="{FF2B5EF4-FFF2-40B4-BE49-F238E27FC236}">
                <a16:creationId xmlns:a16="http://schemas.microsoft.com/office/drawing/2014/main" id="{373F7F08-D242-8232-229F-4CCAA12A49E9}"/>
              </a:ext>
            </a:extLst>
          </p:cNvPr>
          <p:cNvSpPr>
            <a:spLocks noGrp="1"/>
          </p:cNvSpPr>
          <p:nvPr>
            <p:ph type="body" sz="quarter" idx="13"/>
          </p:nvPr>
        </p:nvSpPr>
        <p:spPr>
          <a:xfrm>
            <a:off x="521110" y="3975351"/>
            <a:ext cx="10359224" cy="2380103"/>
          </a:xfrm>
        </p:spPr>
        <p:txBody>
          <a:bodyPr/>
          <a:lstStyle/>
          <a:p>
            <a:r>
              <a:rPr lang="en-US" sz="2400" b="0" dirty="0">
                <a:latin typeface="+mn-lt"/>
              </a:rPr>
              <a:t>On a log scale, late aircraft and carrier delays show higher median and wider spread, while weather and security delays remain relatively lower. This highlights late aircraft as a major contributor to variability.</a:t>
            </a:r>
          </a:p>
          <a:p>
            <a:r>
              <a:rPr lang="en-US" sz="2400" b="0" dirty="0">
                <a:latin typeface="+mn-lt"/>
              </a:rPr>
              <a:t>Carrier and late aircraft delays dominate with broader distributions, whereas weather and security delays are concentrated at lower values. This confirms operational and aircraft issues as primary drivers of delay.</a:t>
            </a:r>
          </a:p>
          <a:p>
            <a:endParaRPr lang="en-US" sz="2400" b="0" dirty="0">
              <a:latin typeface="+mn-lt"/>
            </a:endParaRPr>
          </a:p>
          <a:p>
            <a:endParaRPr lang="en-US" sz="2400" b="0" dirty="0">
              <a:latin typeface="+mn-lt"/>
            </a:endParaRPr>
          </a:p>
        </p:txBody>
      </p:sp>
      <p:pic>
        <p:nvPicPr>
          <p:cNvPr id="2" name="Picture 1">
            <a:extLst>
              <a:ext uri="{FF2B5EF4-FFF2-40B4-BE49-F238E27FC236}">
                <a16:creationId xmlns:a16="http://schemas.microsoft.com/office/drawing/2014/main" id="{0BA1069B-D419-8696-CCF9-55A8ABEA9C1D}"/>
              </a:ext>
            </a:extLst>
          </p:cNvPr>
          <p:cNvPicPr>
            <a:picLocks noChangeAspect="1"/>
          </p:cNvPicPr>
          <p:nvPr/>
        </p:nvPicPr>
        <p:blipFill>
          <a:blip r:embed="rId2"/>
          <a:stretch>
            <a:fillRect/>
          </a:stretch>
        </p:blipFill>
        <p:spPr>
          <a:xfrm>
            <a:off x="853703" y="1337120"/>
            <a:ext cx="3649471" cy="2638232"/>
          </a:xfrm>
          <a:prstGeom prst="rect">
            <a:avLst/>
          </a:prstGeom>
        </p:spPr>
      </p:pic>
      <p:pic>
        <p:nvPicPr>
          <p:cNvPr id="6" name="Picture 5">
            <a:extLst>
              <a:ext uri="{FF2B5EF4-FFF2-40B4-BE49-F238E27FC236}">
                <a16:creationId xmlns:a16="http://schemas.microsoft.com/office/drawing/2014/main" id="{B0A90F3A-5C06-7960-FA24-675EC45AD64A}"/>
              </a:ext>
            </a:extLst>
          </p:cNvPr>
          <p:cNvPicPr>
            <a:picLocks noChangeAspect="1"/>
          </p:cNvPicPr>
          <p:nvPr/>
        </p:nvPicPr>
        <p:blipFill>
          <a:blip r:embed="rId3"/>
          <a:stretch>
            <a:fillRect/>
          </a:stretch>
        </p:blipFill>
        <p:spPr>
          <a:xfrm>
            <a:off x="5665706" y="1268954"/>
            <a:ext cx="3178782" cy="2675593"/>
          </a:xfrm>
          <a:prstGeom prst="rect">
            <a:avLst/>
          </a:prstGeom>
        </p:spPr>
      </p:pic>
    </p:spTree>
    <p:extLst>
      <p:ext uri="{BB962C8B-B14F-4D97-AF65-F5344CB8AC3E}">
        <p14:creationId xmlns:p14="http://schemas.microsoft.com/office/powerpoint/2010/main" val="3774366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2B196-551E-EC89-63AF-9D62CA12AC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5E9D536-3A38-A6FC-E887-CF0D5B71EAC3}"/>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3: Exploratory Data Analysis</a:t>
            </a:r>
          </a:p>
        </p:txBody>
      </p:sp>
      <p:cxnSp>
        <p:nvCxnSpPr>
          <p:cNvPr id="5" name="Straight Connector 4">
            <a:extLst>
              <a:ext uri="{FF2B5EF4-FFF2-40B4-BE49-F238E27FC236}">
                <a16:creationId xmlns:a16="http://schemas.microsoft.com/office/drawing/2014/main" id="{151C97BB-C32C-A4D6-6997-A2D742092D86}"/>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7A775C4-8FF3-7D77-3077-0CDB3C3F7C42}"/>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
        <p:nvSpPr>
          <p:cNvPr id="24" name="Text Placeholder 1">
            <a:extLst>
              <a:ext uri="{FF2B5EF4-FFF2-40B4-BE49-F238E27FC236}">
                <a16:creationId xmlns:a16="http://schemas.microsoft.com/office/drawing/2014/main" id="{321AA76A-B283-7E6F-B2CF-D7D29EDCD391}"/>
              </a:ext>
            </a:extLst>
          </p:cNvPr>
          <p:cNvSpPr>
            <a:spLocks noGrp="1"/>
          </p:cNvSpPr>
          <p:nvPr>
            <p:ph type="body" sz="quarter" idx="13"/>
          </p:nvPr>
        </p:nvSpPr>
        <p:spPr>
          <a:xfrm>
            <a:off x="521110" y="3942738"/>
            <a:ext cx="10359224" cy="2412717"/>
          </a:xfrm>
        </p:spPr>
        <p:txBody>
          <a:bodyPr/>
          <a:lstStyle/>
          <a:p>
            <a:r>
              <a:rPr lang="en-US" sz="2400" b="0" dirty="0">
                <a:latin typeface="+mn-lt"/>
              </a:rPr>
              <a:t>This chart shows that ORD (Chicago O’Hare) and ATL (Atlanta) have the highest average delays among the top 15 airports, while MDW (Chicago Midway) and CLT (Charlotte) experience the lowest delays in this group.</a:t>
            </a:r>
          </a:p>
          <a:p>
            <a:r>
              <a:rPr lang="en-US" sz="2400" b="0" dirty="0">
                <a:latin typeface="+mn-lt"/>
              </a:rPr>
              <a:t>The heatmap shows that late aircraft delays and carrier delays are most strongly correlated with overall average delays, while security delays have the weakest correlation with other delay types.</a:t>
            </a:r>
          </a:p>
          <a:p>
            <a:endParaRPr lang="en-US" sz="2400" b="0" dirty="0">
              <a:latin typeface="+mn-lt"/>
            </a:endParaRPr>
          </a:p>
        </p:txBody>
      </p:sp>
      <p:pic>
        <p:nvPicPr>
          <p:cNvPr id="15" name="Picture 14">
            <a:extLst>
              <a:ext uri="{FF2B5EF4-FFF2-40B4-BE49-F238E27FC236}">
                <a16:creationId xmlns:a16="http://schemas.microsoft.com/office/drawing/2014/main" id="{5D8F2954-1E74-E7C6-A151-286BD718D02E}"/>
              </a:ext>
            </a:extLst>
          </p:cNvPr>
          <p:cNvPicPr>
            <a:picLocks noChangeAspect="1"/>
          </p:cNvPicPr>
          <p:nvPr/>
        </p:nvPicPr>
        <p:blipFill>
          <a:blip r:embed="rId2"/>
          <a:stretch>
            <a:fillRect/>
          </a:stretch>
        </p:blipFill>
        <p:spPr>
          <a:xfrm>
            <a:off x="718838" y="1448721"/>
            <a:ext cx="4126299" cy="2269696"/>
          </a:xfrm>
          <a:prstGeom prst="rect">
            <a:avLst/>
          </a:prstGeom>
        </p:spPr>
      </p:pic>
      <p:pic>
        <p:nvPicPr>
          <p:cNvPr id="17" name="Picture 16">
            <a:extLst>
              <a:ext uri="{FF2B5EF4-FFF2-40B4-BE49-F238E27FC236}">
                <a16:creationId xmlns:a16="http://schemas.microsoft.com/office/drawing/2014/main" id="{A9D4DF87-65E5-9D0E-B6B4-1E91DF9BEE8C}"/>
              </a:ext>
            </a:extLst>
          </p:cNvPr>
          <p:cNvPicPr>
            <a:picLocks noChangeAspect="1"/>
          </p:cNvPicPr>
          <p:nvPr/>
        </p:nvPicPr>
        <p:blipFill>
          <a:blip r:embed="rId3"/>
          <a:stretch>
            <a:fillRect/>
          </a:stretch>
        </p:blipFill>
        <p:spPr>
          <a:xfrm>
            <a:off x="5700722" y="1416078"/>
            <a:ext cx="3064822" cy="2626310"/>
          </a:xfrm>
          <a:prstGeom prst="rect">
            <a:avLst/>
          </a:prstGeom>
        </p:spPr>
      </p:pic>
    </p:spTree>
    <p:extLst>
      <p:ext uri="{BB962C8B-B14F-4D97-AF65-F5344CB8AC3E}">
        <p14:creationId xmlns:p14="http://schemas.microsoft.com/office/powerpoint/2010/main" val="1295850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53078-0947-899D-6422-9C8B551B094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29EC692-1FF9-EC97-0DAD-975AD4DEF8B2}"/>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3: Exploratory Data Analysis</a:t>
            </a:r>
          </a:p>
        </p:txBody>
      </p:sp>
      <p:cxnSp>
        <p:nvCxnSpPr>
          <p:cNvPr id="5" name="Straight Connector 4">
            <a:extLst>
              <a:ext uri="{FF2B5EF4-FFF2-40B4-BE49-F238E27FC236}">
                <a16:creationId xmlns:a16="http://schemas.microsoft.com/office/drawing/2014/main" id="{F2FA68C3-8E14-EFC3-66B3-62350AF6EBEA}"/>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7CE9102-25C0-9C94-CADD-1191C9AFCA0A}"/>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
        <p:nvSpPr>
          <p:cNvPr id="24" name="Text Placeholder 1">
            <a:extLst>
              <a:ext uri="{FF2B5EF4-FFF2-40B4-BE49-F238E27FC236}">
                <a16:creationId xmlns:a16="http://schemas.microsoft.com/office/drawing/2014/main" id="{145EC5CC-8352-25EB-B780-3EA866331A1C}"/>
              </a:ext>
            </a:extLst>
          </p:cNvPr>
          <p:cNvSpPr>
            <a:spLocks noGrp="1"/>
          </p:cNvSpPr>
          <p:nvPr>
            <p:ph type="body" sz="quarter" idx="13"/>
          </p:nvPr>
        </p:nvSpPr>
        <p:spPr>
          <a:xfrm>
            <a:off x="521110" y="3519948"/>
            <a:ext cx="10359224" cy="2733368"/>
          </a:xfrm>
        </p:spPr>
        <p:txBody>
          <a:bodyPr/>
          <a:lstStyle/>
          <a:p>
            <a:r>
              <a:rPr lang="en-US" sz="2400" b="0" dirty="0">
                <a:latin typeface="+mn-lt"/>
              </a:rPr>
              <a:t>Most of these smaller/regional airports show relatively low total delays, except ABQ (Albuquerque) which stands out with a much higher delay volume. Again, carrier delays (blue) and late aircraft delays (purple) dominate for ABQ, while others remain at smaller scales.</a:t>
            </a:r>
          </a:p>
          <a:p>
            <a:r>
              <a:rPr lang="en-US" sz="2400" b="0" dirty="0">
                <a:latin typeface="+mn-lt"/>
              </a:rPr>
              <a:t>ORD (Chicago O’Hare) and ATL (Atlanta) lead with the highest total delays, exceeding other airports significantly. Across these top airports, carrier delays (blue), NAS delays (green), and late aircraft delays (purple) are the largest contributors to total delay. Weather delays (orange) and security delays (red) are relatively minor in comparison.</a:t>
            </a:r>
          </a:p>
          <a:p>
            <a:endParaRPr lang="en-US" sz="2400" b="0" dirty="0">
              <a:latin typeface="+mn-lt"/>
            </a:endParaRPr>
          </a:p>
          <a:p>
            <a:endParaRPr lang="en-US" sz="2400" b="0" dirty="0">
              <a:latin typeface="+mn-lt"/>
            </a:endParaRPr>
          </a:p>
        </p:txBody>
      </p:sp>
      <p:pic>
        <p:nvPicPr>
          <p:cNvPr id="2" name="Picture 1">
            <a:extLst>
              <a:ext uri="{FF2B5EF4-FFF2-40B4-BE49-F238E27FC236}">
                <a16:creationId xmlns:a16="http://schemas.microsoft.com/office/drawing/2014/main" id="{5D90602B-0C65-0500-8655-F69D5B403645}"/>
              </a:ext>
            </a:extLst>
          </p:cNvPr>
          <p:cNvPicPr>
            <a:picLocks noChangeAspect="1"/>
          </p:cNvPicPr>
          <p:nvPr/>
        </p:nvPicPr>
        <p:blipFill>
          <a:blip r:embed="rId2"/>
          <a:stretch>
            <a:fillRect/>
          </a:stretch>
        </p:blipFill>
        <p:spPr>
          <a:xfrm>
            <a:off x="776262" y="1332957"/>
            <a:ext cx="4276234" cy="2279847"/>
          </a:xfrm>
          <a:prstGeom prst="rect">
            <a:avLst/>
          </a:prstGeom>
        </p:spPr>
      </p:pic>
      <p:pic>
        <p:nvPicPr>
          <p:cNvPr id="6" name="Picture 5">
            <a:extLst>
              <a:ext uri="{FF2B5EF4-FFF2-40B4-BE49-F238E27FC236}">
                <a16:creationId xmlns:a16="http://schemas.microsoft.com/office/drawing/2014/main" id="{5D9D40F0-AAE7-EEDE-323E-E3D92A1D8909}"/>
              </a:ext>
            </a:extLst>
          </p:cNvPr>
          <p:cNvPicPr>
            <a:picLocks noChangeAspect="1"/>
          </p:cNvPicPr>
          <p:nvPr/>
        </p:nvPicPr>
        <p:blipFill>
          <a:blip r:embed="rId3"/>
          <a:stretch>
            <a:fillRect/>
          </a:stretch>
        </p:blipFill>
        <p:spPr>
          <a:xfrm>
            <a:off x="5568165" y="1332957"/>
            <a:ext cx="4024630" cy="2186990"/>
          </a:xfrm>
          <a:prstGeom prst="rect">
            <a:avLst/>
          </a:prstGeom>
        </p:spPr>
      </p:pic>
    </p:spTree>
    <p:extLst>
      <p:ext uri="{BB962C8B-B14F-4D97-AF65-F5344CB8AC3E}">
        <p14:creationId xmlns:p14="http://schemas.microsoft.com/office/powerpoint/2010/main" val="3646155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C2445-DB14-2E69-C4DC-6AE14BEA09D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2B1C33D-228E-4109-EE43-61B6D6264964}"/>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3: Exploratory Data Analysis</a:t>
            </a:r>
          </a:p>
        </p:txBody>
      </p:sp>
      <p:cxnSp>
        <p:nvCxnSpPr>
          <p:cNvPr id="5" name="Straight Connector 4">
            <a:extLst>
              <a:ext uri="{FF2B5EF4-FFF2-40B4-BE49-F238E27FC236}">
                <a16:creationId xmlns:a16="http://schemas.microsoft.com/office/drawing/2014/main" id="{21D09086-DBC4-A048-36A4-0CCACE7D7383}"/>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C25AF1B-F56D-0FA3-2BF6-AD30A3BB6590}"/>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
        <p:nvSpPr>
          <p:cNvPr id="24" name="Text Placeholder 1">
            <a:extLst>
              <a:ext uri="{FF2B5EF4-FFF2-40B4-BE49-F238E27FC236}">
                <a16:creationId xmlns:a16="http://schemas.microsoft.com/office/drawing/2014/main" id="{E3525066-FE1A-CC53-A4E7-4C2A2D70566E}"/>
              </a:ext>
            </a:extLst>
          </p:cNvPr>
          <p:cNvSpPr>
            <a:spLocks noGrp="1"/>
          </p:cNvSpPr>
          <p:nvPr>
            <p:ph type="body" sz="quarter" idx="13"/>
          </p:nvPr>
        </p:nvSpPr>
        <p:spPr>
          <a:xfrm>
            <a:off x="521110" y="3519948"/>
            <a:ext cx="10359224" cy="2733368"/>
          </a:xfrm>
        </p:spPr>
        <p:txBody>
          <a:bodyPr/>
          <a:lstStyle/>
          <a:p>
            <a:r>
              <a:rPr lang="en-US" sz="2400" b="0" dirty="0">
                <a:latin typeface="+mn-lt"/>
              </a:rPr>
              <a:t>Most of these smaller/regional airports show relatively low total delays, except ABQ (Albuquerque) which stands out with a much higher delay volume. Again, carrier delays (blue) and late aircraft delays (purple) dominate for ABQ, while others remain at smaller scales.</a:t>
            </a:r>
          </a:p>
          <a:p>
            <a:r>
              <a:rPr lang="en-US" sz="2400" b="0" dirty="0">
                <a:latin typeface="+mn-lt"/>
              </a:rPr>
              <a:t>ORD (Chicago O’Hare) and ATL (Atlanta) lead with the highest total delays, exceeding other airports significantly. Across these top airports, carrier delays (blue), NAS delays (green), and late aircraft delays (purple) are the largest contributors to total delay. Weather delays (orange) and security delays (red) are relatively minor in comparison.</a:t>
            </a:r>
          </a:p>
          <a:p>
            <a:endParaRPr lang="en-US" sz="2400" b="0" dirty="0">
              <a:latin typeface="+mn-lt"/>
            </a:endParaRPr>
          </a:p>
          <a:p>
            <a:endParaRPr lang="en-US" sz="2400" b="0" dirty="0">
              <a:latin typeface="+mn-lt"/>
            </a:endParaRPr>
          </a:p>
        </p:txBody>
      </p:sp>
      <p:pic>
        <p:nvPicPr>
          <p:cNvPr id="8" name="Picture 7">
            <a:extLst>
              <a:ext uri="{FF2B5EF4-FFF2-40B4-BE49-F238E27FC236}">
                <a16:creationId xmlns:a16="http://schemas.microsoft.com/office/drawing/2014/main" id="{91239556-30E8-DFA0-2DF1-F0E3DF944472}"/>
              </a:ext>
            </a:extLst>
          </p:cNvPr>
          <p:cNvPicPr>
            <a:picLocks noChangeAspect="1"/>
          </p:cNvPicPr>
          <p:nvPr/>
        </p:nvPicPr>
        <p:blipFill>
          <a:blip r:embed="rId2"/>
          <a:stretch>
            <a:fillRect/>
          </a:stretch>
        </p:blipFill>
        <p:spPr>
          <a:xfrm>
            <a:off x="898351" y="1236318"/>
            <a:ext cx="4292574" cy="2240749"/>
          </a:xfrm>
          <a:prstGeom prst="rect">
            <a:avLst/>
          </a:prstGeom>
        </p:spPr>
      </p:pic>
      <p:pic>
        <p:nvPicPr>
          <p:cNvPr id="10" name="Picture 9">
            <a:extLst>
              <a:ext uri="{FF2B5EF4-FFF2-40B4-BE49-F238E27FC236}">
                <a16:creationId xmlns:a16="http://schemas.microsoft.com/office/drawing/2014/main" id="{54853A7B-3E8E-2C4D-BE9A-6AD9AB7D4925}"/>
              </a:ext>
            </a:extLst>
          </p:cNvPr>
          <p:cNvPicPr>
            <a:picLocks noChangeAspect="1"/>
          </p:cNvPicPr>
          <p:nvPr/>
        </p:nvPicPr>
        <p:blipFill>
          <a:blip r:embed="rId3"/>
          <a:stretch>
            <a:fillRect/>
          </a:stretch>
        </p:blipFill>
        <p:spPr>
          <a:xfrm>
            <a:off x="5700722" y="1234637"/>
            <a:ext cx="4057875" cy="2294463"/>
          </a:xfrm>
          <a:prstGeom prst="rect">
            <a:avLst/>
          </a:prstGeom>
        </p:spPr>
      </p:pic>
    </p:spTree>
    <p:extLst>
      <p:ext uri="{BB962C8B-B14F-4D97-AF65-F5344CB8AC3E}">
        <p14:creationId xmlns:p14="http://schemas.microsoft.com/office/powerpoint/2010/main" val="667859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BED97-4B4A-A020-A209-6C0C2F65CC1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A205ED6-4483-82B6-6273-2297DB2A4B75}"/>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3: Exploratory Data Analysis</a:t>
            </a:r>
          </a:p>
        </p:txBody>
      </p:sp>
      <p:cxnSp>
        <p:nvCxnSpPr>
          <p:cNvPr id="5" name="Straight Connector 4">
            <a:extLst>
              <a:ext uri="{FF2B5EF4-FFF2-40B4-BE49-F238E27FC236}">
                <a16:creationId xmlns:a16="http://schemas.microsoft.com/office/drawing/2014/main" id="{5178D777-E4D3-1DB6-42AA-7C0137BD227A}"/>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6A9C9F8-E70E-E351-AD50-4CF86EE0BBC6}"/>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
        <p:nvSpPr>
          <p:cNvPr id="24" name="Text Placeholder 1">
            <a:extLst>
              <a:ext uri="{FF2B5EF4-FFF2-40B4-BE49-F238E27FC236}">
                <a16:creationId xmlns:a16="http://schemas.microsoft.com/office/drawing/2014/main" id="{1EE0CEB1-2F05-0D58-5726-CA8EF25DDF21}"/>
              </a:ext>
            </a:extLst>
          </p:cNvPr>
          <p:cNvSpPr>
            <a:spLocks noGrp="1"/>
          </p:cNvSpPr>
          <p:nvPr>
            <p:ph type="body" sz="quarter" idx="13"/>
          </p:nvPr>
        </p:nvSpPr>
        <p:spPr>
          <a:xfrm>
            <a:off x="521110" y="3787158"/>
            <a:ext cx="10359224" cy="2466158"/>
          </a:xfrm>
        </p:spPr>
        <p:txBody>
          <a:bodyPr/>
          <a:lstStyle/>
          <a:p>
            <a:r>
              <a:rPr lang="en-US" b="0" dirty="0">
                <a:latin typeface="+mn-lt"/>
              </a:rPr>
              <a:t>Average Delay by Carrier (Bar Plot): A few carriers, especially AA and WN, show significantly higher average delays compared to others, indicating performance issues concentrated in specific airlines.</a:t>
            </a:r>
          </a:p>
          <a:p>
            <a:r>
              <a:rPr lang="en-US" b="0" dirty="0">
                <a:latin typeface="+mn-lt"/>
              </a:rPr>
              <a:t>Carrier Delay vs Late Aircraft Delay (Scatter Plot): There’s a positive correlation — higher carrier delays are often linked with higher late aircraft delays, suggesting cascading effects of initial delays.</a:t>
            </a:r>
          </a:p>
          <a:p>
            <a:endParaRPr lang="en-US" sz="2300" b="0" dirty="0">
              <a:latin typeface="+mn-lt"/>
            </a:endParaRPr>
          </a:p>
        </p:txBody>
      </p:sp>
      <p:pic>
        <p:nvPicPr>
          <p:cNvPr id="8" name="Picture 7">
            <a:extLst>
              <a:ext uri="{FF2B5EF4-FFF2-40B4-BE49-F238E27FC236}">
                <a16:creationId xmlns:a16="http://schemas.microsoft.com/office/drawing/2014/main" id="{605D09D1-7DD6-AF7D-D8B1-39F44C46865A}"/>
              </a:ext>
            </a:extLst>
          </p:cNvPr>
          <p:cNvPicPr>
            <a:picLocks noChangeAspect="1"/>
          </p:cNvPicPr>
          <p:nvPr/>
        </p:nvPicPr>
        <p:blipFill>
          <a:blip r:embed="rId2"/>
          <a:stretch>
            <a:fillRect/>
          </a:stretch>
        </p:blipFill>
        <p:spPr>
          <a:xfrm>
            <a:off x="796129" y="1318759"/>
            <a:ext cx="4348309" cy="2341397"/>
          </a:xfrm>
          <a:prstGeom prst="rect">
            <a:avLst/>
          </a:prstGeom>
        </p:spPr>
      </p:pic>
      <p:pic>
        <p:nvPicPr>
          <p:cNvPr id="6" name="Picture 5">
            <a:extLst>
              <a:ext uri="{FF2B5EF4-FFF2-40B4-BE49-F238E27FC236}">
                <a16:creationId xmlns:a16="http://schemas.microsoft.com/office/drawing/2014/main" id="{897C8D33-BB7F-B7BB-BC1D-7111788753FF}"/>
              </a:ext>
            </a:extLst>
          </p:cNvPr>
          <p:cNvPicPr>
            <a:picLocks noChangeAspect="1"/>
          </p:cNvPicPr>
          <p:nvPr/>
        </p:nvPicPr>
        <p:blipFill>
          <a:blip r:embed="rId3"/>
          <a:stretch>
            <a:fillRect/>
          </a:stretch>
        </p:blipFill>
        <p:spPr>
          <a:xfrm>
            <a:off x="5956436" y="1256379"/>
            <a:ext cx="3783188" cy="2466156"/>
          </a:xfrm>
          <a:prstGeom prst="rect">
            <a:avLst/>
          </a:prstGeom>
        </p:spPr>
      </p:pic>
    </p:spTree>
    <p:extLst>
      <p:ext uri="{BB962C8B-B14F-4D97-AF65-F5344CB8AC3E}">
        <p14:creationId xmlns:p14="http://schemas.microsoft.com/office/powerpoint/2010/main" val="2375800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1A606-4A9C-F938-EEFE-D7FA3A0AFD3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1A42CC7-D531-2AFD-847B-D4274C303BBD}"/>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3: Exploratory Data Analysis</a:t>
            </a:r>
          </a:p>
        </p:txBody>
      </p:sp>
      <p:cxnSp>
        <p:nvCxnSpPr>
          <p:cNvPr id="5" name="Straight Connector 4">
            <a:extLst>
              <a:ext uri="{FF2B5EF4-FFF2-40B4-BE49-F238E27FC236}">
                <a16:creationId xmlns:a16="http://schemas.microsoft.com/office/drawing/2014/main" id="{3C02CD1E-516A-0CB9-B334-CD0F3730686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0BA6BF4-A464-1C52-CB4C-96C7A2D84005}"/>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pic>
        <p:nvPicPr>
          <p:cNvPr id="16" name="Picture 15">
            <a:extLst>
              <a:ext uri="{FF2B5EF4-FFF2-40B4-BE49-F238E27FC236}">
                <a16:creationId xmlns:a16="http://schemas.microsoft.com/office/drawing/2014/main" id="{361D4122-BCD5-8305-7B20-01A83FB7B859}"/>
              </a:ext>
            </a:extLst>
          </p:cNvPr>
          <p:cNvPicPr>
            <a:picLocks noChangeAspect="1"/>
          </p:cNvPicPr>
          <p:nvPr/>
        </p:nvPicPr>
        <p:blipFill>
          <a:blip r:embed="rId2"/>
          <a:stretch>
            <a:fillRect/>
          </a:stretch>
        </p:blipFill>
        <p:spPr>
          <a:xfrm>
            <a:off x="1118770" y="1388088"/>
            <a:ext cx="4534778" cy="4540907"/>
          </a:xfrm>
          <a:prstGeom prst="rect">
            <a:avLst/>
          </a:prstGeom>
        </p:spPr>
      </p:pic>
      <p:sp>
        <p:nvSpPr>
          <p:cNvPr id="18" name="Text Placeholder 1">
            <a:extLst>
              <a:ext uri="{FF2B5EF4-FFF2-40B4-BE49-F238E27FC236}">
                <a16:creationId xmlns:a16="http://schemas.microsoft.com/office/drawing/2014/main" id="{74DA8112-59AD-91F5-1CFF-27B757B381CD}"/>
              </a:ext>
            </a:extLst>
          </p:cNvPr>
          <p:cNvSpPr>
            <a:spLocks noGrp="1"/>
          </p:cNvSpPr>
          <p:nvPr>
            <p:ph type="body" sz="quarter" idx="13"/>
          </p:nvPr>
        </p:nvSpPr>
        <p:spPr>
          <a:xfrm>
            <a:off x="5968181" y="1388088"/>
            <a:ext cx="4912152" cy="4452274"/>
          </a:xfrm>
        </p:spPr>
        <p:txBody>
          <a:bodyPr/>
          <a:lstStyle/>
          <a:p>
            <a:r>
              <a:rPr lang="en-US" b="0" dirty="0">
                <a:latin typeface="+mn-lt"/>
              </a:rPr>
              <a:t>This pairplot shows that carrier_delay, nas_delay, and late_aircraft_delay are strongly correlated with overall average delay, indicating they are the main contributors. In contrast, weather_delay and security_delay show weaker relationships, meaning they have less overall impact on total delays.</a:t>
            </a:r>
          </a:p>
          <a:p>
            <a:endParaRPr lang="en-US" sz="2300" b="0" dirty="0">
              <a:latin typeface="+mn-lt"/>
            </a:endParaRPr>
          </a:p>
        </p:txBody>
      </p:sp>
    </p:spTree>
    <p:extLst>
      <p:ext uri="{BB962C8B-B14F-4D97-AF65-F5344CB8AC3E}">
        <p14:creationId xmlns:p14="http://schemas.microsoft.com/office/powerpoint/2010/main" val="2823267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4355F79-FD5E-0F58-6E08-3C7638677C1B}"/>
              </a:ext>
            </a:extLst>
          </p:cNvPr>
          <p:cNvPicPr>
            <a:picLocks noChangeAspect="1"/>
          </p:cNvPicPr>
          <p:nvPr/>
        </p:nvPicPr>
        <p:blipFill>
          <a:blip r:embed="rId2"/>
          <a:stretch>
            <a:fillRect/>
          </a:stretch>
        </p:blipFill>
        <p:spPr>
          <a:xfrm>
            <a:off x="764498" y="1907461"/>
            <a:ext cx="10954342" cy="4476682"/>
          </a:xfrm>
          <a:prstGeom prst="rect">
            <a:avLst/>
          </a:prstGeom>
        </p:spPr>
      </p:pic>
      <p:sp>
        <p:nvSpPr>
          <p:cNvPr id="3" name="TextBox 2">
            <a:extLst>
              <a:ext uri="{FF2B5EF4-FFF2-40B4-BE49-F238E27FC236}">
                <a16:creationId xmlns:a16="http://schemas.microsoft.com/office/drawing/2014/main" id="{1AE928C1-A2E8-23AC-1589-981334841BF1}"/>
              </a:ext>
            </a:extLst>
          </p:cNvPr>
          <p:cNvSpPr txBox="1"/>
          <p:nvPr/>
        </p:nvSpPr>
        <p:spPr>
          <a:xfrm>
            <a:off x="610762" y="1100796"/>
            <a:ext cx="10152342" cy="646331"/>
          </a:xfrm>
          <a:prstGeom prst="rect">
            <a:avLst/>
          </a:prstGeom>
          <a:noFill/>
        </p:spPr>
        <p:txBody>
          <a:bodyPr wrap="square" rtlCol="0">
            <a:spAutoFit/>
          </a:bodyPr>
          <a:lstStyle/>
          <a:p>
            <a:pPr lvl="0">
              <a:defRPr/>
            </a:pPr>
            <a:r>
              <a:rPr lang="fr-FR" sz="3600" b="1" dirty="0">
                <a:solidFill>
                  <a:srgbClr val="5B9BD5">
                    <a:lumMod val="50000"/>
                  </a:srgbClr>
                </a:solidFill>
              </a:rPr>
              <a:t>Power BI Dashboard</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0430B948-1158-D757-A8CF-354EAC0C4869}"/>
              </a:ext>
            </a:extLst>
          </p:cNvPr>
          <p:cNvSpPr txBox="1"/>
          <p:nvPr/>
        </p:nvSpPr>
        <p:spPr>
          <a:xfrm>
            <a:off x="374764" y="45446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3: Exploratory Data Analysis</a:t>
            </a:r>
          </a:p>
        </p:txBody>
      </p:sp>
      <p:cxnSp>
        <p:nvCxnSpPr>
          <p:cNvPr id="5" name="Straight Connector 4">
            <a:extLst>
              <a:ext uri="{FF2B5EF4-FFF2-40B4-BE49-F238E27FC236}">
                <a16:creationId xmlns:a16="http://schemas.microsoft.com/office/drawing/2014/main" id="{2098C5F1-BC66-9AD3-25CE-E238C7DD58F2}"/>
              </a:ext>
            </a:extLst>
          </p:cNvPr>
          <p:cNvCxnSpPr>
            <a:cxnSpLocks/>
          </p:cNvCxnSpPr>
          <p:nvPr/>
        </p:nvCxnSpPr>
        <p:spPr>
          <a:xfrm>
            <a:off x="374764" y="110079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35264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C7628-2691-CD5D-366F-6D7643CDA04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B85F085-4D20-43A7-5F17-1D93F4665D6B}"/>
              </a:ext>
            </a:extLst>
          </p:cNvPr>
          <p:cNvSpPr txBox="1"/>
          <p:nvPr/>
        </p:nvSpPr>
        <p:spPr>
          <a:xfrm>
            <a:off x="255996" y="502545"/>
            <a:ext cx="10624338" cy="646331"/>
          </a:xfrm>
          <a:prstGeom prst="rect">
            <a:avLst/>
          </a:prstGeom>
          <a:noFill/>
        </p:spPr>
        <p:txBody>
          <a:bodyPr wrap="square" rtlCol="0">
            <a:spAutoFit/>
          </a:bodyPr>
          <a:lstStyle/>
          <a:p>
            <a:pPr>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4: Hypothesis testing of data</a:t>
            </a:r>
            <a:endParaRPr lang="en-US" sz="3600" dirty="0"/>
          </a:p>
        </p:txBody>
      </p:sp>
      <p:cxnSp>
        <p:nvCxnSpPr>
          <p:cNvPr id="5" name="Straight Connector 4">
            <a:extLst>
              <a:ext uri="{FF2B5EF4-FFF2-40B4-BE49-F238E27FC236}">
                <a16:creationId xmlns:a16="http://schemas.microsoft.com/office/drawing/2014/main" id="{3EDA91F9-F433-F61E-CA69-94672DF52E15}"/>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A88D64F-4BD7-3F5A-2E2D-860948067C87}"/>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
        <p:nvSpPr>
          <p:cNvPr id="18" name="Text Placeholder 1">
            <a:extLst>
              <a:ext uri="{FF2B5EF4-FFF2-40B4-BE49-F238E27FC236}">
                <a16:creationId xmlns:a16="http://schemas.microsoft.com/office/drawing/2014/main" id="{D2A3E796-5B38-E248-597B-1184A5BB5DF4}"/>
              </a:ext>
            </a:extLst>
          </p:cNvPr>
          <p:cNvSpPr>
            <a:spLocks noGrp="1"/>
          </p:cNvSpPr>
          <p:nvPr>
            <p:ph type="body" sz="quarter" idx="13"/>
          </p:nvPr>
        </p:nvSpPr>
        <p:spPr>
          <a:xfrm>
            <a:off x="719528" y="1388088"/>
            <a:ext cx="10160805" cy="4452274"/>
          </a:xfrm>
        </p:spPr>
        <p:txBody>
          <a:bodyPr/>
          <a:lstStyle/>
          <a:p>
            <a:pPr marL="514350" indent="-514350">
              <a:buAutoNum type="arabicParenR"/>
            </a:pPr>
            <a:r>
              <a:rPr lang="en-IN" dirty="0">
                <a:latin typeface="+mn-lt"/>
              </a:rPr>
              <a:t>Skewness &amp; Kurtosis</a:t>
            </a:r>
          </a:p>
          <a:p>
            <a:pPr marL="0" indent="0">
              <a:buNone/>
            </a:pPr>
            <a:r>
              <a:rPr lang="en-IN" b="0" dirty="0" err="1">
                <a:latin typeface="+mn-lt"/>
              </a:rPr>
              <a:t>avg_delay</a:t>
            </a:r>
            <a:r>
              <a:rPr lang="en-IN" b="0" dirty="0">
                <a:latin typeface="+mn-lt"/>
              </a:rPr>
              <a:t> → Skewness: 10.14, Kurtosis: 175.42</a:t>
            </a:r>
          </a:p>
          <a:p>
            <a:pPr marL="0" indent="0">
              <a:buNone/>
            </a:pPr>
            <a:r>
              <a:rPr lang="en-IN" b="0" dirty="0" err="1">
                <a:latin typeface="+mn-lt"/>
              </a:rPr>
              <a:t>carrier_delay</a:t>
            </a:r>
            <a:r>
              <a:rPr lang="en-IN" b="0" dirty="0">
                <a:latin typeface="+mn-lt"/>
              </a:rPr>
              <a:t> → Skewness: 12.67, Kurtosis: 342.96</a:t>
            </a:r>
          </a:p>
          <a:p>
            <a:pPr marL="0" indent="0">
              <a:buNone/>
            </a:pPr>
            <a:r>
              <a:rPr lang="en-IN" b="0" dirty="0" err="1">
                <a:latin typeface="+mn-lt"/>
              </a:rPr>
              <a:t>weather_delay</a:t>
            </a:r>
            <a:r>
              <a:rPr lang="en-IN" b="0" dirty="0">
                <a:latin typeface="+mn-lt"/>
              </a:rPr>
              <a:t> → Skewness: 16.90, Kurtosis: 523.49</a:t>
            </a:r>
          </a:p>
          <a:p>
            <a:pPr marL="0" indent="0">
              <a:buNone/>
            </a:pPr>
            <a:r>
              <a:rPr lang="en-IN" b="0" dirty="0" err="1">
                <a:latin typeface="+mn-lt"/>
              </a:rPr>
              <a:t>nas_delay</a:t>
            </a:r>
            <a:r>
              <a:rPr lang="en-IN" b="0" dirty="0">
                <a:latin typeface="+mn-lt"/>
              </a:rPr>
              <a:t> → Skewness: 14.04, Kurtosis: 312.41</a:t>
            </a:r>
          </a:p>
          <a:p>
            <a:pPr marL="0" indent="0">
              <a:buNone/>
            </a:pPr>
            <a:r>
              <a:rPr lang="en-IN" b="0" dirty="0" err="1">
                <a:latin typeface="+mn-lt"/>
              </a:rPr>
              <a:t>security_delay</a:t>
            </a:r>
            <a:r>
              <a:rPr lang="en-IN" b="0" dirty="0">
                <a:latin typeface="+mn-lt"/>
              </a:rPr>
              <a:t> → Skewness: 22.19, Kurtosis: 1151.74</a:t>
            </a:r>
          </a:p>
          <a:p>
            <a:pPr marL="0" indent="0">
              <a:buNone/>
            </a:pPr>
            <a:r>
              <a:rPr lang="en-IN" b="0" dirty="0" err="1">
                <a:latin typeface="+mn-lt"/>
              </a:rPr>
              <a:t>late_aircraft_delay</a:t>
            </a:r>
            <a:r>
              <a:rPr lang="en-IN" b="0" dirty="0">
                <a:latin typeface="+mn-lt"/>
              </a:rPr>
              <a:t> → Skewness: 10.54, Kurtosis: 210.20</a:t>
            </a:r>
          </a:p>
          <a:p>
            <a:pPr>
              <a:buFont typeface="Wingdings" panose="05000000000000000000" pitchFamily="2" charset="2"/>
              <a:buChar char="Ø"/>
            </a:pPr>
            <a:r>
              <a:rPr lang="en-IN" b="0" dirty="0">
                <a:latin typeface="+mn-lt"/>
              </a:rPr>
              <a:t>This Shows that the features are </a:t>
            </a:r>
            <a:r>
              <a:rPr lang="en-IN" dirty="0">
                <a:latin typeface="+mn-lt"/>
              </a:rPr>
              <a:t>Highly Right Skewed (&gt;0) </a:t>
            </a:r>
            <a:r>
              <a:rPr lang="en-IN" b="0" dirty="0">
                <a:latin typeface="+mn-lt"/>
              </a:rPr>
              <a:t>and </a:t>
            </a:r>
            <a:r>
              <a:rPr lang="en-US" dirty="0">
                <a:latin typeface="+mn-lt"/>
              </a:rPr>
              <a:t>leptokurtic (heavy tails, extreme outliers</a:t>
            </a:r>
            <a:r>
              <a:rPr lang="en-US" b="0" dirty="0">
                <a:latin typeface="+mn-lt"/>
              </a:rPr>
              <a:t>), so performed </a:t>
            </a:r>
            <a:r>
              <a:rPr lang="en-US" dirty="0">
                <a:latin typeface="+mn-lt"/>
              </a:rPr>
              <a:t>Log Transformation </a:t>
            </a:r>
            <a:r>
              <a:rPr lang="en-US" b="0" dirty="0">
                <a:latin typeface="+mn-lt"/>
              </a:rPr>
              <a:t>after exploring all the types of transformations</a:t>
            </a:r>
            <a:r>
              <a:rPr lang="en-US" dirty="0">
                <a:latin typeface="+mn-lt"/>
              </a:rPr>
              <a:t>.</a:t>
            </a:r>
          </a:p>
        </p:txBody>
      </p:sp>
    </p:spTree>
    <p:extLst>
      <p:ext uri="{BB962C8B-B14F-4D97-AF65-F5344CB8AC3E}">
        <p14:creationId xmlns:p14="http://schemas.microsoft.com/office/powerpoint/2010/main" val="2493136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C2B69-398F-7831-A6C7-3E2A6700EE0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1322CE0-B814-5AD1-F6C7-00D6DAF99DBF}"/>
              </a:ext>
            </a:extLst>
          </p:cNvPr>
          <p:cNvSpPr txBox="1"/>
          <p:nvPr/>
        </p:nvSpPr>
        <p:spPr>
          <a:xfrm>
            <a:off x="255996" y="502545"/>
            <a:ext cx="10624338" cy="646331"/>
          </a:xfrm>
          <a:prstGeom prst="rect">
            <a:avLst/>
          </a:prstGeom>
          <a:noFill/>
        </p:spPr>
        <p:txBody>
          <a:bodyPr wrap="square" rtlCol="0">
            <a:spAutoFit/>
          </a:bodyPr>
          <a:lstStyle/>
          <a:p>
            <a:pPr>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4: Hypothesis testing of data</a:t>
            </a:r>
            <a:endParaRPr lang="en-US" sz="3600" dirty="0"/>
          </a:p>
        </p:txBody>
      </p:sp>
      <p:cxnSp>
        <p:nvCxnSpPr>
          <p:cNvPr id="5" name="Straight Connector 4">
            <a:extLst>
              <a:ext uri="{FF2B5EF4-FFF2-40B4-BE49-F238E27FC236}">
                <a16:creationId xmlns:a16="http://schemas.microsoft.com/office/drawing/2014/main" id="{76A7FCE9-A9D4-ED62-55FF-7DBB1466E9B5}"/>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CE7C011-F43D-4D66-29F2-93480D5EA4B7}"/>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
        <p:nvSpPr>
          <p:cNvPr id="18" name="Text Placeholder 1">
            <a:extLst>
              <a:ext uri="{FF2B5EF4-FFF2-40B4-BE49-F238E27FC236}">
                <a16:creationId xmlns:a16="http://schemas.microsoft.com/office/drawing/2014/main" id="{0CD4C5D9-2C8B-7AA1-DE4E-D6D3CA8A980E}"/>
              </a:ext>
            </a:extLst>
          </p:cNvPr>
          <p:cNvSpPr>
            <a:spLocks noGrp="1"/>
          </p:cNvSpPr>
          <p:nvPr>
            <p:ph type="body" sz="quarter" idx="13"/>
          </p:nvPr>
        </p:nvSpPr>
        <p:spPr>
          <a:xfrm>
            <a:off x="719529" y="1388088"/>
            <a:ext cx="9144000" cy="4452274"/>
          </a:xfrm>
        </p:spPr>
        <p:txBody>
          <a:bodyPr/>
          <a:lstStyle/>
          <a:p>
            <a:pPr marL="0" indent="0">
              <a:buNone/>
            </a:pPr>
            <a:r>
              <a:rPr lang="en-IN" dirty="0">
                <a:latin typeface="+mn-lt"/>
              </a:rPr>
              <a:t>1) Skewness &amp; Kurtosis</a:t>
            </a:r>
          </a:p>
          <a:p>
            <a:pPr marL="0" indent="0">
              <a:buNone/>
            </a:pPr>
            <a:r>
              <a:rPr lang="en-IN" b="0" dirty="0" err="1">
                <a:latin typeface="+mn-lt"/>
              </a:rPr>
              <a:t>avg_delay_log</a:t>
            </a:r>
            <a:r>
              <a:rPr lang="en-IN" b="0" dirty="0">
                <a:latin typeface="+mn-lt"/>
              </a:rPr>
              <a:t> → Skewness: -1.12, Kurtosis: 2.99</a:t>
            </a:r>
          </a:p>
          <a:p>
            <a:pPr marL="0" indent="0">
              <a:buNone/>
            </a:pPr>
            <a:r>
              <a:rPr lang="en-IN" b="0" dirty="0">
                <a:latin typeface="+mn-lt"/>
              </a:rPr>
              <a:t>carrier_delay_log → Skewness: -1.04, Kurtosis: 1.54</a:t>
            </a:r>
          </a:p>
          <a:p>
            <a:pPr marL="0" indent="0">
              <a:buNone/>
            </a:pPr>
            <a:r>
              <a:rPr lang="en-IN" b="0" dirty="0">
                <a:latin typeface="+mn-lt"/>
              </a:rPr>
              <a:t>weather_delay_log → Skewness: 0.19, Kurtosis: -1.38</a:t>
            </a:r>
          </a:p>
          <a:p>
            <a:pPr marL="0" indent="0">
              <a:buNone/>
            </a:pPr>
            <a:r>
              <a:rPr lang="en-IN" b="0" dirty="0">
                <a:latin typeface="+mn-lt"/>
              </a:rPr>
              <a:t>nas_delay_log → Skewness: -0.58, Kurtosis: 0.26 </a:t>
            </a:r>
          </a:p>
          <a:p>
            <a:pPr marL="0" indent="0">
              <a:buNone/>
            </a:pPr>
            <a:r>
              <a:rPr lang="en-IN" b="0" dirty="0">
                <a:latin typeface="+mn-lt"/>
              </a:rPr>
              <a:t>security_delay_log → Skewness: 2.69, Kurtosis: 6.12</a:t>
            </a:r>
          </a:p>
          <a:p>
            <a:pPr marL="0" indent="0">
              <a:buNone/>
            </a:pPr>
            <a:r>
              <a:rPr lang="en-IN" b="0" dirty="0" err="1">
                <a:latin typeface="+mn-lt"/>
              </a:rPr>
              <a:t>late_aircraft_delay_log</a:t>
            </a:r>
            <a:r>
              <a:rPr lang="en-IN" b="0" dirty="0">
                <a:latin typeface="+mn-lt"/>
              </a:rPr>
              <a:t> → Skewness: -0.78, Kurtosis: 0.10</a:t>
            </a:r>
          </a:p>
          <a:p>
            <a:pPr>
              <a:buFont typeface="Wingdings" panose="05000000000000000000" pitchFamily="2" charset="2"/>
              <a:buChar char="Ø"/>
            </a:pPr>
            <a:r>
              <a:rPr lang="en-IN" b="0" dirty="0">
                <a:latin typeface="+mn-lt"/>
              </a:rPr>
              <a:t> </a:t>
            </a:r>
            <a:r>
              <a:rPr lang="en-US" b="0" dirty="0">
                <a:latin typeface="+mn-lt"/>
              </a:rPr>
              <a:t>Log transformation successfully normalized most delay distributions</a:t>
            </a:r>
          </a:p>
          <a:p>
            <a:pPr>
              <a:buFont typeface="Wingdings" panose="05000000000000000000" pitchFamily="2" charset="2"/>
              <a:buChar char="Ø"/>
            </a:pPr>
            <a:endParaRPr lang="en-US" b="0" dirty="0">
              <a:latin typeface="+mn-lt"/>
            </a:endParaRPr>
          </a:p>
        </p:txBody>
      </p:sp>
    </p:spTree>
    <p:extLst>
      <p:ext uri="{BB962C8B-B14F-4D97-AF65-F5344CB8AC3E}">
        <p14:creationId xmlns:p14="http://schemas.microsoft.com/office/powerpoint/2010/main" val="3379577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48AD0-BEA1-625C-CB37-69DF6F9E166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44C7E80-CC1F-8237-7C2B-D74FAE8BA1F0}"/>
              </a:ext>
            </a:extLst>
          </p:cNvPr>
          <p:cNvSpPr txBox="1"/>
          <p:nvPr/>
        </p:nvSpPr>
        <p:spPr>
          <a:xfrm>
            <a:off x="255996" y="502545"/>
            <a:ext cx="10624338" cy="646331"/>
          </a:xfrm>
          <a:prstGeom prst="rect">
            <a:avLst/>
          </a:prstGeom>
          <a:noFill/>
        </p:spPr>
        <p:txBody>
          <a:bodyPr wrap="square" rtlCol="0">
            <a:spAutoFit/>
          </a:bodyPr>
          <a:lstStyle/>
          <a:p>
            <a:pPr>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4: Hypothesis testing of data</a:t>
            </a:r>
            <a:endParaRPr lang="en-US" sz="3600" dirty="0"/>
          </a:p>
        </p:txBody>
      </p:sp>
      <p:cxnSp>
        <p:nvCxnSpPr>
          <p:cNvPr id="5" name="Straight Connector 4">
            <a:extLst>
              <a:ext uri="{FF2B5EF4-FFF2-40B4-BE49-F238E27FC236}">
                <a16:creationId xmlns:a16="http://schemas.microsoft.com/office/drawing/2014/main" id="{731FE27C-7E53-5184-01D6-0D3A9D3E2FAA}"/>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3B38EEF-9843-32DC-CC23-809C257DE00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
        <p:nvSpPr>
          <p:cNvPr id="18" name="Text Placeholder 1">
            <a:extLst>
              <a:ext uri="{FF2B5EF4-FFF2-40B4-BE49-F238E27FC236}">
                <a16:creationId xmlns:a16="http://schemas.microsoft.com/office/drawing/2014/main" id="{E52FB8B1-42DE-A450-41E3-2969E5E2DD6F}"/>
              </a:ext>
            </a:extLst>
          </p:cNvPr>
          <p:cNvSpPr>
            <a:spLocks noGrp="1"/>
          </p:cNvSpPr>
          <p:nvPr>
            <p:ph type="body" sz="quarter" idx="13"/>
          </p:nvPr>
        </p:nvSpPr>
        <p:spPr>
          <a:xfrm>
            <a:off x="719528" y="1388088"/>
            <a:ext cx="10160805" cy="4452274"/>
          </a:xfrm>
        </p:spPr>
        <p:txBody>
          <a:bodyPr/>
          <a:lstStyle/>
          <a:p>
            <a:pPr marL="0" indent="0">
              <a:buNone/>
            </a:pPr>
            <a:r>
              <a:rPr lang="en-IN" dirty="0">
                <a:latin typeface="+mn-lt"/>
              </a:rPr>
              <a:t>2) Outliers Detection &amp; removal</a:t>
            </a:r>
          </a:p>
          <a:p>
            <a:pPr marL="0" indent="0">
              <a:buNone/>
            </a:pPr>
            <a:endParaRPr lang="en-IN" b="0" dirty="0">
              <a:latin typeface="+mn-lt"/>
            </a:endParaRPr>
          </a:p>
        </p:txBody>
      </p:sp>
      <p:pic>
        <p:nvPicPr>
          <p:cNvPr id="6" name="Picture 5">
            <a:extLst>
              <a:ext uri="{FF2B5EF4-FFF2-40B4-BE49-F238E27FC236}">
                <a16:creationId xmlns:a16="http://schemas.microsoft.com/office/drawing/2014/main" id="{72BD3B64-7097-D7D8-4E2B-88DE9924E2D1}"/>
              </a:ext>
            </a:extLst>
          </p:cNvPr>
          <p:cNvPicPr>
            <a:picLocks noChangeAspect="1"/>
          </p:cNvPicPr>
          <p:nvPr/>
        </p:nvPicPr>
        <p:blipFill>
          <a:blip r:embed="rId2"/>
          <a:stretch>
            <a:fillRect/>
          </a:stretch>
        </p:blipFill>
        <p:spPr>
          <a:xfrm>
            <a:off x="848380" y="2128603"/>
            <a:ext cx="7950845" cy="1970275"/>
          </a:xfrm>
          <a:prstGeom prst="rect">
            <a:avLst/>
          </a:prstGeom>
        </p:spPr>
      </p:pic>
      <p:sp>
        <p:nvSpPr>
          <p:cNvPr id="9" name="Text Placeholder 1">
            <a:extLst>
              <a:ext uri="{FF2B5EF4-FFF2-40B4-BE49-F238E27FC236}">
                <a16:creationId xmlns:a16="http://schemas.microsoft.com/office/drawing/2014/main" id="{25290F9A-CA00-3C55-AE91-04FB3CF4CE23}"/>
              </a:ext>
            </a:extLst>
          </p:cNvPr>
          <p:cNvSpPr txBox="1">
            <a:spLocks/>
          </p:cNvSpPr>
          <p:nvPr/>
        </p:nvSpPr>
        <p:spPr>
          <a:xfrm>
            <a:off x="848381" y="4527030"/>
            <a:ext cx="10495240" cy="155254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800" b="1" kern="1200" dirty="0">
                <a:solidFill>
                  <a:srgbClr val="0070C0"/>
                </a:solidFill>
                <a:latin typeface="Frutiger 45 bold"/>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425"/>
              </a:lnSpc>
              <a:buNone/>
            </a:pPr>
            <a:r>
              <a:rPr lang="en-US" b="0" dirty="0">
                <a:latin typeface="+mn-lt"/>
              </a:rPr>
              <a:t>Weather delays are well-behaved after transformation.</a:t>
            </a:r>
          </a:p>
          <a:p>
            <a:pPr>
              <a:lnSpc>
                <a:spcPts val="1425"/>
              </a:lnSpc>
              <a:buNone/>
            </a:pPr>
            <a:endParaRPr lang="en-US" b="0" dirty="0">
              <a:latin typeface="+mn-lt"/>
            </a:endParaRPr>
          </a:p>
          <a:p>
            <a:pPr>
              <a:lnSpc>
                <a:spcPts val="1425"/>
              </a:lnSpc>
              <a:buNone/>
            </a:pPr>
            <a:r>
              <a:rPr lang="en-US" b="0" dirty="0">
                <a:latin typeface="+mn-lt"/>
              </a:rPr>
              <a:t>NAS, security, and late aircraft delays are problematic with &gt;10%</a:t>
            </a:r>
          </a:p>
          <a:p>
            <a:pPr>
              <a:lnSpc>
                <a:spcPts val="1425"/>
              </a:lnSpc>
              <a:buNone/>
            </a:pPr>
            <a:r>
              <a:rPr lang="en-US" b="0" dirty="0">
                <a:latin typeface="+mn-lt"/>
              </a:rPr>
              <a:t>outliers</a:t>
            </a:r>
          </a:p>
          <a:p>
            <a:pPr>
              <a:lnSpc>
                <a:spcPts val="1425"/>
              </a:lnSpc>
              <a:buNone/>
            </a:pPr>
            <a:endParaRPr lang="en-IN" b="0" dirty="0">
              <a:latin typeface="+mn-lt"/>
            </a:endParaRPr>
          </a:p>
          <a:p>
            <a:pPr>
              <a:lnSpc>
                <a:spcPts val="1425"/>
              </a:lnSpc>
              <a:buNone/>
            </a:pPr>
            <a:r>
              <a:rPr lang="en-IN" b="0" dirty="0">
                <a:latin typeface="+mn-lt"/>
              </a:rPr>
              <a:t>Removed outliers based on upper &amp; lower bound.</a:t>
            </a:r>
          </a:p>
        </p:txBody>
      </p:sp>
    </p:spTree>
    <p:extLst>
      <p:ext uri="{BB962C8B-B14F-4D97-AF65-F5344CB8AC3E}">
        <p14:creationId xmlns:p14="http://schemas.microsoft.com/office/powerpoint/2010/main" val="4253364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p"/>
      <p:bldP spid="9"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DAB3B-40EC-D8AE-6637-CD695E2105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EAB6F4E-68E5-B040-96BD-E78FADFA7F90}"/>
              </a:ext>
            </a:extLst>
          </p:cNvPr>
          <p:cNvSpPr txBox="1"/>
          <p:nvPr/>
        </p:nvSpPr>
        <p:spPr>
          <a:xfrm>
            <a:off x="255996" y="502545"/>
            <a:ext cx="10624338" cy="646331"/>
          </a:xfrm>
          <a:prstGeom prst="rect">
            <a:avLst/>
          </a:prstGeom>
          <a:noFill/>
        </p:spPr>
        <p:txBody>
          <a:bodyPr wrap="square" rtlCol="0">
            <a:spAutoFit/>
          </a:bodyPr>
          <a:lstStyle/>
          <a:p>
            <a:pPr>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4: Hypothesis testing of data</a:t>
            </a:r>
            <a:endParaRPr lang="en-US" sz="3600" dirty="0"/>
          </a:p>
        </p:txBody>
      </p:sp>
      <p:cxnSp>
        <p:nvCxnSpPr>
          <p:cNvPr id="5" name="Straight Connector 4">
            <a:extLst>
              <a:ext uri="{FF2B5EF4-FFF2-40B4-BE49-F238E27FC236}">
                <a16:creationId xmlns:a16="http://schemas.microsoft.com/office/drawing/2014/main" id="{3738B359-ECED-356C-A28A-CFE8EF2A45E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3AA096C-4969-5F44-4383-ACBE3D103D19}"/>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
        <p:nvSpPr>
          <p:cNvPr id="18" name="Text Placeholder 1">
            <a:extLst>
              <a:ext uri="{FF2B5EF4-FFF2-40B4-BE49-F238E27FC236}">
                <a16:creationId xmlns:a16="http://schemas.microsoft.com/office/drawing/2014/main" id="{10720707-F880-7C0E-70D2-4EB945464DA5}"/>
              </a:ext>
            </a:extLst>
          </p:cNvPr>
          <p:cNvSpPr>
            <a:spLocks noGrp="1"/>
          </p:cNvSpPr>
          <p:nvPr>
            <p:ph type="body" sz="quarter" idx="13"/>
          </p:nvPr>
        </p:nvSpPr>
        <p:spPr>
          <a:xfrm>
            <a:off x="719528" y="1388088"/>
            <a:ext cx="10160805" cy="4452274"/>
          </a:xfrm>
        </p:spPr>
        <p:txBody>
          <a:bodyPr/>
          <a:lstStyle/>
          <a:p>
            <a:pPr marL="0" indent="0">
              <a:buNone/>
            </a:pPr>
            <a:r>
              <a:rPr lang="en-IN" dirty="0"/>
              <a:t>3) Bias Variance Trade off – Linear Regression</a:t>
            </a:r>
          </a:p>
          <a:p>
            <a:pPr>
              <a:buFont typeface="Wingdings" panose="05000000000000000000" pitchFamily="2" charset="2"/>
              <a:buChar char="Ø"/>
            </a:pPr>
            <a:r>
              <a:rPr lang="en-IN" b="0" dirty="0"/>
              <a:t>Bias-Variance Approximation: Train MSE = 0.039, Test MSE = 0.04</a:t>
            </a:r>
          </a:p>
          <a:p>
            <a:pPr>
              <a:buFont typeface="Wingdings" panose="05000000000000000000" pitchFamily="2" charset="2"/>
              <a:buChar char="Ø"/>
            </a:pPr>
            <a:r>
              <a:rPr lang="en-US" b="0" dirty="0"/>
              <a:t>Train and Test MSE are very close</a:t>
            </a:r>
            <a:r>
              <a:rPr lang="en-IN" b="0" dirty="0">
                <a:latin typeface="+mn-lt"/>
              </a:rPr>
              <a:t>, </a:t>
            </a:r>
            <a:r>
              <a:rPr lang="en-US" b="0" dirty="0"/>
              <a:t>which means your model generalizes well (not overfitting).</a:t>
            </a:r>
          </a:p>
          <a:p>
            <a:pPr>
              <a:buFont typeface="Wingdings" panose="05000000000000000000" pitchFamily="2" charset="2"/>
              <a:buChar char="Ø"/>
            </a:pPr>
            <a:r>
              <a:rPr lang="en-US" b="0" dirty="0"/>
              <a:t>Low Bias: Train error is low, so model fits training data well.</a:t>
            </a:r>
          </a:p>
          <a:p>
            <a:pPr>
              <a:buFont typeface="Wingdings" panose="05000000000000000000" pitchFamily="2" charset="2"/>
              <a:buChar char="Ø"/>
            </a:pPr>
            <a:r>
              <a:rPr lang="en-US" b="0" dirty="0"/>
              <a:t>Low Variance: Test error is almost same as train error → stable predictions on unseen data.</a:t>
            </a:r>
          </a:p>
          <a:p>
            <a:pPr>
              <a:buFont typeface="Wingdings" panose="05000000000000000000" pitchFamily="2" charset="2"/>
              <a:buChar char="Ø"/>
            </a:pPr>
            <a:r>
              <a:rPr lang="en-US" b="0" dirty="0"/>
              <a:t>No signs of overfitting (would show as train MSE ≪ test MSE).</a:t>
            </a:r>
          </a:p>
          <a:p>
            <a:pPr>
              <a:buFont typeface="Wingdings" panose="05000000000000000000" pitchFamily="2" charset="2"/>
              <a:buChar char="Ø"/>
            </a:pPr>
            <a:r>
              <a:rPr lang="en-US" b="0" dirty="0"/>
              <a:t>No signs of underfitting (would show as both train &amp; test MSE being high)</a:t>
            </a:r>
          </a:p>
          <a:p>
            <a:pPr marL="0" indent="0">
              <a:buNone/>
            </a:pPr>
            <a:br>
              <a:rPr lang="en-US" b="0" dirty="0"/>
            </a:br>
            <a:endParaRPr lang="en-US" b="0" dirty="0"/>
          </a:p>
          <a:p>
            <a:pPr>
              <a:buFont typeface="Wingdings" panose="05000000000000000000" pitchFamily="2" charset="2"/>
              <a:buChar char="Ø"/>
            </a:pPr>
            <a:endParaRPr lang="en-US" b="0" dirty="0"/>
          </a:p>
          <a:p>
            <a:pPr>
              <a:buFont typeface="Wingdings" panose="05000000000000000000" pitchFamily="2" charset="2"/>
              <a:buChar char="Ø"/>
            </a:pPr>
            <a:endParaRPr lang="en-US" b="0" dirty="0"/>
          </a:p>
        </p:txBody>
      </p:sp>
    </p:spTree>
    <p:extLst>
      <p:ext uri="{BB962C8B-B14F-4D97-AF65-F5344CB8AC3E}">
        <p14:creationId xmlns:p14="http://schemas.microsoft.com/office/powerpoint/2010/main" val="4056681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C73A0-200E-128B-CEDB-03F13BF11B2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6B66518-B0D0-A651-94DB-9A5B4B73120D}"/>
              </a:ext>
            </a:extLst>
          </p:cNvPr>
          <p:cNvSpPr txBox="1"/>
          <p:nvPr/>
        </p:nvSpPr>
        <p:spPr>
          <a:xfrm>
            <a:off x="255996" y="502545"/>
            <a:ext cx="10624338" cy="646331"/>
          </a:xfrm>
          <a:prstGeom prst="rect">
            <a:avLst/>
          </a:prstGeom>
          <a:noFill/>
        </p:spPr>
        <p:txBody>
          <a:bodyPr wrap="square" rtlCol="0">
            <a:spAutoFit/>
          </a:bodyPr>
          <a:lstStyle/>
          <a:p>
            <a:pPr>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4: Hypothesis testing of data</a:t>
            </a:r>
            <a:endParaRPr lang="en-US" sz="3600" dirty="0"/>
          </a:p>
        </p:txBody>
      </p:sp>
      <p:cxnSp>
        <p:nvCxnSpPr>
          <p:cNvPr id="5" name="Straight Connector 4">
            <a:extLst>
              <a:ext uri="{FF2B5EF4-FFF2-40B4-BE49-F238E27FC236}">
                <a16:creationId xmlns:a16="http://schemas.microsoft.com/office/drawing/2014/main" id="{3743CB4B-9B6B-5545-B8FE-44C4D8F73CE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BEC04B6-BDBA-D7D7-F165-A8A6BCFDDF12}"/>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
        <p:nvSpPr>
          <p:cNvPr id="18" name="Text Placeholder 1">
            <a:extLst>
              <a:ext uri="{FF2B5EF4-FFF2-40B4-BE49-F238E27FC236}">
                <a16:creationId xmlns:a16="http://schemas.microsoft.com/office/drawing/2014/main" id="{A1D2A204-FA97-15FB-5D07-6FE255590FAA}"/>
              </a:ext>
            </a:extLst>
          </p:cNvPr>
          <p:cNvSpPr>
            <a:spLocks noGrp="1"/>
          </p:cNvSpPr>
          <p:nvPr>
            <p:ph type="body" sz="quarter" idx="13"/>
          </p:nvPr>
        </p:nvSpPr>
        <p:spPr>
          <a:xfrm>
            <a:off x="719528" y="1388088"/>
            <a:ext cx="10160805" cy="4452274"/>
          </a:xfrm>
        </p:spPr>
        <p:txBody>
          <a:bodyPr/>
          <a:lstStyle/>
          <a:p>
            <a:pPr marL="0" indent="0">
              <a:buNone/>
            </a:pPr>
            <a:r>
              <a:rPr lang="en-IN" dirty="0"/>
              <a:t>4) Shapiro–Wilk test:</a:t>
            </a:r>
          </a:p>
          <a:p>
            <a:pPr marL="0" indent="0">
              <a:buNone/>
            </a:pPr>
            <a:endParaRPr lang="en-IN" b="0" dirty="0">
              <a:latin typeface="+mn-lt"/>
            </a:endParaRPr>
          </a:p>
        </p:txBody>
      </p:sp>
      <p:sp>
        <p:nvSpPr>
          <p:cNvPr id="9" name="Text Placeholder 1">
            <a:extLst>
              <a:ext uri="{FF2B5EF4-FFF2-40B4-BE49-F238E27FC236}">
                <a16:creationId xmlns:a16="http://schemas.microsoft.com/office/drawing/2014/main" id="{ABEACD2F-01E8-E4AC-498F-62B00E808CCD}"/>
              </a:ext>
            </a:extLst>
          </p:cNvPr>
          <p:cNvSpPr txBox="1">
            <a:spLocks/>
          </p:cNvSpPr>
          <p:nvPr/>
        </p:nvSpPr>
        <p:spPr>
          <a:xfrm>
            <a:off x="848381" y="2128603"/>
            <a:ext cx="10495240" cy="39509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800" b="1" kern="1200" dirty="0">
                <a:solidFill>
                  <a:srgbClr val="0070C0"/>
                </a:solidFill>
                <a:latin typeface="Frutiger 45 bold"/>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Ø"/>
            </a:pPr>
            <a:r>
              <a:rPr lang="en-US" b="0" dirty="0">
                <a:latin typeface="+mn-lt"/>
              </a:rPr>
              <a:t>This test is done to check the normality of the features.</a:t>
            </a:r>
          </a:p>
          <a:p>
            <a:pPr>
              <a:lnSpc>
                <a:spcPct val="100000"/>
              </a:lnSpc>
              <a:buFont typeface="Wingdings" panose="05000000000000000000" pitchFamily="2" charset="2"/>
              <a:buChar char="Ø"/>
            </a:pPr>
            <a:r>
              <a:rPr lang="en-US" b="0" dirty="0">
                <a:latin typeface="+mn-lt"/>
              </a:rPr>
              <a:t>Conclusion of the test, based on the P-values was: D</a:t>
            </a:r>
            <a:r>
              <a:rPr lang="en-US" dirty="0"/>
              <a:t>istributions are not perfectly normal, but they’re much closer than before</a:t>
            </a:r>
            <a:r>
              <a:rPr lang="en-US" b="0" dirty="0"/>
              <a:t>.</a:t>
            </a:r>
          </a:p>
          <a:p>
            <a:pPr>
              <a:lnSpc>
                <a:spcPct val="100000"/>
              </a:lnSpc>
              <a:buFont typeface="Wingdings" panose="05000000000000000000" pitchFamily="2" charset="2"/>
              <a:buChar char="Ø"/>
            </a:pPr>
            <a:endParaRPr lang="en-US" b="0" dirty="0"/>
          </a:p>
          <a:p>
            <a:pPr>
              <a:lnSpc>
                <a:spcPct val="100000"/>
              </a:lnSpc>
              <a:buNone/>
            </a:pPr>
            <a:endParaRPr lang="en-IN" b="0" dirty="0">
              <a:latin typeface="+mn-lt"/>
            </a:endParaRPr>
          </a:p>
        </p:txBody>
      </p:sp>
    </p:spTree>
    <p:extLst>
      <p:ext uri="{BB962C8B-B14F-4D97-AF65-F5344CB8AC3E}">
        <p14:creationId xmlns:p14="http://schemas.microsoft.com/office/powerpoint/2010/main" val="95736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p"/>
      <p:bldP spid="9"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42A4B-643B-8337-11AD-B3082F0710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966864-B6C5-89EC-CD47-FCDD81AC01B9}"/>
              </a:ext>
            </a:extLst>
          </p:cNvPr>
          <p:cNvSpPr txBox="1"/>
          <p:nvPr/>
        </p:nvSpPr>
        <p:spPr>
          <a:xfrm>
            <a:off x="255996" y="502545"/>
            <a:ext cx="10624338" cy="646331"/>
          </a:xfrm>
          <a:prstGeom prst="rect">
            <a:avLst/>
          </a:prstGeom>
          <a:noFill/>
        </p:spPr>
        <p:txBody>
          <a:bodyPr wrap="square" rtlCol="0">
            <a:spAutoFit/>
          </a:bodyPr>
          <a:lstStyle/>
          <a:p>
            <a:pPr>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4: Hypothesis testing of data</a:t>
            </a:r>
            <a:endParaRPr lang="en-US" sz="3600" dirty="0"/>
          </a:p>
        </p:txBody>
      </p:sp>
      <p:cxnSp>
        <p:nvCxnSpPr>
          <p:cNvPr id="5" name="Straight Connector 4">
            <a:extLst>
              <a:ext uri="{FF2B5EF4-FFF2-40B4-BE49-F238E27FC236}">
                <a16:creationId xmlns:a16="http://schemas.microsoft.com/office/drawing/2014/main" id="{CB908001-6321-6070-F3F2-48D6A93C1CD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F61D827-1BB4-4D06-4755-B99204C1669A}"/>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
        <p:nvSpPr>
          <p:cNvPr id="18" name="Text Placeholder 1">
            <a:extLst>
              <a:ext uri="{FF2B5EF4-FFF2-40B4-BE49-F238E27FC236}">
                <a16:creationId xmlns:a16="http://schemas.microsoft.com/office/drawing/2014/main" id="{45511C9B-E910-8991-8F77-091A7156A063}"/>
              </a:ext>
            </a:extLst>
          </p:cNvPr>
          <p:cNvSpPr>
            <a:spLocks noGrp="1"/>
          </p:cNvSpPr>
          <p:nvPr>
            <p:ph type="body" sz="quarter" idx="13"/>
          </p:nvPr>
        </p:nvSpPr>
        <p:spPr>
          <a:xfrm>
            <a:off x="719528" y="1234637"/>
            <a:ext cx="10160805" cy="4605725"/>
          </a:xfrm>
        </p:spPr>
        <p:txBody>
          <a:bodyPr/>
          <a:lstStyle/>
          <a:p>
            <a:pPr marL="0" indent="0">
              <a:buNone/>
            </a:pPr>
            <a:r>
              <a:rPr lang="en-IN" sz="2200" dirty="0">
                <a:latin typeface="+mn-lt"/>
              </a:rPr>
              <a:t>5) Anova, One sample/Two sample T-test, Pearson Correlation, F-test:</a:t>
            </a:r>
          </a:p>
          <a:p>
            <a:pPr marL="72000" indent="0">
              <a:lnSpc>
                <a:spcPct val="100000"/>
              </a:lnSpc>
              <a:spcBef>
                <a:spcPts val="0"/>
              </a:spcBef>
              <a:buNone/>
            </a:pPr>
            <a:r>
              <a:rPr lang="en-US" sz="2200" b="0" dirty="0">
                <a:latin typeface="+mn-lt"/>
              </a:rPr>
              <a:t>1. </a:t>
            </a:r>
            <a:r>
              <a:rPr lang="en-US" sz="2200" dirty="0">
                <a:latin typeface="+mn-lt"/>
              </a:rPr>
              <a:t>Anova test</a:t>
            </a:r>
            <a:r>
              <a:rPr lang="en-US" sz="2200" b="0" dirty="0">
                <a:latin typeface="+mn-lt"/>
              </a:rPr>
              <a:t> across Airports: At least one airport’s average delay is significantly different than others which suggest that it is a key factor in predicting delays.</a:t>
            </a:r>
          </a:p>
          <a:p>
            <a:pPr marL="0" indent="0">
              <a:lnSpc>
                <a:spcPct val="100000"/>
              </a:lnSpc>
              <a:spcBef>
                <a:spcPts val="0"/>
              </a:spcBef>
              <a:buNone/>
            </a:pPr>
            <a:r>
              <a:rPr lang="en-US" sz="2200" b="0" dirty="0">
                <a:latin typeface="+mn-lt"/>
              </a:rPr>
              <a:t>2. </a:t>
            </a:r>
            <a:r>
              <a:rPr lang="en-US" sz="2200" dirty="0">
                <a:latin typeface="+mn-lt"/>
              </a:rPr>
              <a:t>Anova test </a:t>
            </a:r>
            <a:r>
              <a:rPr lang="en-US" sz="2200" b="0" dirty="0">
                <a:latin typeface="+mn-lt"/>
              </a:rPr>
              <a:t>across Carrier choice: It is a strong determinant of delays — valuable for both passengers and airlines in benchmarking performance</a:t>
            </a:r>
          </a:p>
          <a:p>
            <a:pPr marL="0" indent="0">
              <a:lnSpc>
                <a:spcPct val="100000"/>
              </a:lnSpc>
              <a:spcBef>
                <a:spcPts val="0"/>
              </a:spcBef>
              <a:buNone/>
            </a:pPr>
            <a:r>
              <a:rPr lang="en-US" sz="2200" b="0" dirty="0">
                <a:latin typeface="+mn-lt"/>
              </a:rPr>
              <a:t>3. </a:t>
            </a:r>
            <a:r>
              <a:rPr lang="en-US" sz="2200" dirty="0">
                <a:latin typeface="+mn-lt"/>
              </a:rPr>
              <a:t>One sample Test </a:t>
            </a:r>
            <a:r>
              <a:rPr lang="en-US" sz="2200" b="0" dirty="0">
                <a:latin typeface="+mn-lt"/>
              </a:rPr>
              <a:t>(NAS delay) : National Airspace System are a consistent and systemic source of delay, not just random occurrences.</a:t>
            </a:r>
          </a:p>
          <a:p>
            <a:pPr marL="0" indent="0">
              <a:lnSpc>
                <a:spcPct val="100000"/>
              </a:lnSpc>
              <a:spcBef>
                <a:spcPts val="0"/>
              </a:spcBef>
              <a:buNone/>
            </a:pPr>
            <a:r>
              <a:rPr lang="en-US" sz="2200" b="0" dirty="0">
                <a:latin typeface="+mn-lt"/>
              </a:rPr>
              <a:t>4. </a:t>
            </a:r>
            <a:r>
              <a:rPr lang="en-US" sz="2200" dirty="0">
                <a:latin typeface="+mn-lt"/>
              </a:rPr>
              <a:t>One sample T-test </a:t>
            </a:r>
            <a:r>
              <a:rPr lang="en-US" sz="2200" b="0" dirty="0">
                <a:latin typeface="+mn-lt"/>
              </a:rPr>
              <a:t>on Security delay and the column has no variation so it can be dropped from dataset.</a:t>
            </a:r>
          </a:p>
          <a:p>
            <a:pPr marL="0" indent="0">
              <a:lnSpc>
                <a:spcPct val="100000"/>
              </a:lnSpc>
              <a:spcBef>
                <a:spcPts val="0"/>
              </a:spcBef>
              <a:buNone/>
            </a:pPr>
            <a:r>
              <a:rPr lang="en-US" sz="2200" b="0" dirty="0">
                <a:latin typeface="+mn-lt"/>
              </a:rPr>
              <a:t>5. </a:t>
            </a:r>
            <a:r>
              <a:rPr lang="en-US" sz="2200" dirty="0">
                <a:latin typeface="+mn-lt"/>
              </a:rPr>
              <a:t>Two sample T-test</a:t>
            </a:r>
            <a:r>
              <a:rPr lang="en-US" sz="2200" b="0" dirty="0">
                <a:latin typeface="+mn-lt"/>
              </a:rPr>
              <a:t>: Carrier delays are much higher than weather delays.</a:t>
            </a:r>
          </a:p>
          <a:p>
            <a:pPr marL="0" indent="0">
              <a:lnSpc>
                <a:spcPct val="100000"/>
              </a:lnSpc>
              <a:spcBef>
                <a:spcPts val="0"/>
              </a:spcBef>
              <a:buNone/>
            </a:pPr>
            <a:r>
              <a:rPr lang="en-US" sz="2200" b="0" dirty="0">
                <a:latin typeface="+mn-lt"/>
              </a:rPr>
              <a:t>6. </a:t>
            </a:r>
            <a:r>
              <a:rPr lang="en-US" sz="2200" dirty="0">
                <a:latin typeface="+mn-lt"/>
              </a:rPr>
              <a:t>Pearson Correlation</a:t>
            </a:r>
            <a:r>
              <a:rPr lang="en-US" sz="2200" b="0" dirty="0">
                <a:latin typeface="+mn-lt"/>
              </a:rPr>
              <a:t>: Late aircraft delays &amp; Carrier delays are a major driver of total average delay</a:t>
            </a:r>
          </a:p>
          <a:p>
            <a:pPr marL="0" indent="0">
              <a:lnSpc>
                <a:spcPct val="100000"/>
              </a:lnSpc>
              <a:spcBef>
                <a:spcPts val="0"/>
              </a:spcBef>
              <a:buNone/>
            </a:pPr>
            <a:r>
              <a:rPr lang="en-US" sz="2200" b="0" dirty="0"/>
              <a:t>7. </a:t>
            </a:r>
            <a:r>
              <a:rPr lang="en-US" sz="2200" dirty="0"/>
              <a:t>Pearson Correlation </a:t>
            </a:r>
            <a:r>
              <a:rPr lang="en-US" sz="2200" b="0" dirty="0"/>
              <a:t>( weather delay vs Avg delay) : Weather is not the only driver, but it is a substantial contributing factor. </a:t>
            </a:r>
            <a:endParaRPr lang="en-US" sz="2200" b="0" dirty="0">
              <a:latin typeface="+mn-lt"/>
            </a:endParaRPr>
          </a:p>
          <a:p>
            <a:pPr marL="0" indent="0">
              <a:lnSpc>
                <a:spcPct val="100000"/>
              </a:lnSpc>
              <a:spcBef>
                <a:spcPts val="0"/>
              </a:spcBef>
              <a:buNone/>
            </a:pPr>
            <a:r>
              <a:rPr lang="en-US" sz="2200" b="0" dirty="0">
                <a:latin typeface="+mn-lt"/>
              </a:rPr>
              <a:t>8. </a:t>
            </a:r>
            <a:r>
              <a:rPr lang="en-IN" sz="2200" b="0" dirty="0">
                <a:latin typeface="+mn-lt"/>
              </a:rPr>
              <a:t>Regression Significance (</a:t>
            </a:r>
            <a:r>
              <a:rPr lang="en-IN" sz="2200" dirty="0">
                <a:latin typeface="+mn-lt"/>
              </a:rPr>
              <a:t>F-test</a:t>
            </a:r>
            <a:r>
              <a:rPr lang="en-IN" sz="2200" b="0" dirty="0">
                <a:latin typeface="+mn-lt"/>
              </a:rPr>
              <a:t>): </a:t>
            </a:r>
            <a:r>
              <a:rPr lang="en-US" sz="2200" b="0" dirty="0">
                <a:latin typeface="+mn-lt"/>
              </a:rPr>
              <a:t>All predictors except security_delay_log_clean are highly significant.</a:t>
            </a:r>
          </a:p>
          <a:p>
            <a:pPr marL="0" indent="0">
              <a:lnSpc>
                <a:spcPct val="100000"/>
              </a:lnSpc>
              <a:spcBef>
                <a:spcPts val="0"/>
              </a:spcBef>
              <a:buNone/>
            </a:pPr>
            <a:endParaRPr lang="en-US" sz="2200" b="0" dirty="0">
              <a:latin typeface="+mn-lt"/>
            </a:endParaRPr>
          </a:p>
          <a:p>
            <a:pPr marL="0" indent="0">
              <a:lnSpc>
                <a:spcPct val="100000"/>
              </a:lnSpc>
              <a:spcBef>
                <a:spcPts val="0"/>
              </a:spcBef>
              <a:buNone/>
            </a:pPr>
            <a:endParaRPr lang="en-US" sz="2200" b="0" dirty="0">
              <a:latin typeface="+mn-lt"/>
            </a:endParaRPr>
          </a:p>
          <a:p>
            <a:pPr marL="0" indent="0">
              <a:lnSpc>
                <a:spcPct val="100000"/>
              </a:lnSpc>
              <a:spcBef>
                <a:spcPts val="0"/>
              </a:spcBef>
              <a:buNone/>
            </a:pPr>
            <a:endParaRPr lang="en-US" sz="2200" b="0" dirty="0">
              <a:latin typeface="+mn-lt"/>
            </a:endParaRPr>
          </a:p>
          <a:p>
            <a:pPr marL="0" indent="0">
              <a:lnSpc>
                <a:spcPct val="100000"/>
              </a:lnSpc>
              <a:spcBef>
                <a:spcPts val="0"/>
              </a:spcBef>
              <a:buNone/>
            </a:pPr>
            <a:endParaRPr lang="en-US" sz="2200" b="0" dirty="0">
              <a:latin typeface="+mn-lt"/>
            </a:endParaRPr>
          </a:p>
          <a:p>
            <a:pPr>
              <a:lnSpc>
                <a:spcPct val="100000"/>
              </a:lnSpc>
              <a:spcBef>
                <a:spcPts val="0"/>
              </a:spcBef>
              <a:buFont typeface="Wingdings" panose="05000000000000000000" pitchFamily="2" charset="2"/>
              <a:buChar char="Ø"/>
            </a:pPr>
            <a:endParaRPr lang="en-US" sz="2200" b="0" dirty="0">
              <a:latin typeface="+mn-lt"/>
            </a:endParaRPr>
          </a:p>
          <a:p>
            <a:pPr>
              <a:lnSpc>
                <a:spcPct val="100000"/>
              </a:lnSpc>
              <a:spcBef>
                <a:spcPts val="0"/>
              </a:spcBef>
              <a:buNone/>
            </a:pPr>
            <a:endParaRPr lang="en-IN" sz="2200" b="0" dirty="0">
              <a:latin typeface="+mn-lt"/>
            </a:endParaRPr>
          </a:p>
          <a:p>
            <a:pPr marL="0" indent="0">
              <a:buNone/>
            </a:pPr>
            <a:endParaRPr lang="en-IN" sz="2200" b="0" dirty="0">
              <a:latin typeface="+mn-lt"/>
            </a:endParaRPr>
          </a:p>
        </p:txBody>
      </p:sp>
    </p:spTree>
    <p:extLst>
      <p:ext uri="{BB962C8B-B14F-4D97-AF65-F5344CB8AC3E}">
        <p14:creationId xmlns:p14="http://schemas.microsoft.com/office/powerpoint/2010/main" val="2031522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9B983-2CB6-7560-AC5D-313F5932AC3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3CED3F0-E250-A411-6658-8908C0352458}"/>
              </a:ext>
            </a:extLst>
          </p:cNvPr>
          <p:cNvSpPr txBox="1"/>
          <p:nvPr/>
        </p:nvSpPr>
        <p:spPr>
          <a:xfrm>
            <a:off x="255996" y="502545"/>
            <a:ext cx="10624338" cy="646331"/>
          </a:xfrm>
          <a:prstGeom prst="rect">
            <a:avLst/>
          </a:prstGeom>
          <a:noFill/>
        </p:spPr>
        <p:txBody>
          <a:bodyPr wrap="square" rtlCol="0">
            <a:spAutoFit/>
          </a:bodyPr>
          <a:lstStyle/>
          <a:p>
            <a:pPr>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4: Hypothesis testing of data</a:t>
            </a:r>
            <a:endParaRPr lang="en-US" sz="3600" dirty="0"/>
          </a:p>
        </p:txBody>
      </p:sp>
      <p:cxnSp>
        <p:nvCxnSpPr>
          <p:cNvPr id="5" name="Straight Connector 4">
            <a:extLst>
              <a:ext uri="{FF2B5EF4-FFF2-40B4-BE49-F238E27FC236}">
                <a16:creationId xmlns:a16="http://schemas.microsoft.com/office/drawing/2014/main" id="{08F547C2-B3FB-70D1-4214-8F03FEB8DC5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9DFDA09-205B-F8DD-3C29-4A344E774ADB}"/>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
        <p:nvSpPr>
          <p:cNvPr id="18" name="Text Placeholder 1">
            <a:extLst>
              <a:ext uri="{FF2B5EF4-FFF2-40B4-BE49-F238E27FC236}">
                <a16:creationId xmlns:a16="http://schemas.microsoft.com/office/drawing/2014/main" id="{CC4E30EA-B04D-7C91-E6A4-D701600FE1A9}"/>
              </a:ext>
            </a:extLst>
          </p:cNvPr>
          <p:cNvSpPr>
            <a:spLocks noGrp="1"/>
          </p:cNvSpPr>
          <p:nvPr>
            <p:ph type="body" sz="quarter" idx="13"/>
          </p:nvPr>
        </p:nvSpPr>
        <p:spPr>
          <a:xfrm>
            <a:off x="719528" y="1234637"/>
            <a:ext cx="10160805" cy="4605725"/>
          </a:xfrm>
        </p:spPr>
        <p:txBody>
          <a:bodyPr/>
          <a:lstStyle/>
          <a:p>
            <a:pPr marL="0" indent="0">
              <a:buNone/>
            </a:pPr>
            <a:r>
              <a:rPr lang="en-US" sz="2200" dirty="0">
                <a:latin typeface="+mn-lt"/>
              </a:rPr>
              <a:t>Top Conclusions:</a:t>
            </a:r>
          </a:p>
          <a:p>
            <a:r>
              <a:rPr lang="en-US" sz="2400" b="0" dirty="0">
                <a:latin typeface="+mn-lt"/>
              </a:rPr>
              <a:t>Carrier and late aircraft delays are the strongest predictors of avg delay.</a:t>
            </a:r>
          </a:p>
          <a:p>
            <a:r>
              <a:rPr lang="en-IN" sz="2400" b="0" dirty="0" err="1">
                <a:latin typeface="+mn-lt"/>
              </a:rPr>
              <a:t>Avg</a:t>
            </a:r>
            <a:r>
              <a:rPr lang="en-IN" sz="2400" b="0" dirty="0">
                <a:latin typeface="+mn-lt"/>
              </a:rPr>
              <a:t> delays vary significantly by airport.</a:t>
            </a:r>
          </a:p>
          <a:p>
            <a:r>
              <a:rPr lang="en-IN" sz="2400" b="0" dirty="0">
                <a:latin typeface="+mn-lt"/>
              </a:rPr>
              <a:t>Carrier delays dominate weather delays.</a:t>
            </a:r>
          </a:p>
          <a:p>
            <a:r>
              <a:rPr lang="en-IN" sz="2400" b="0" dirty="0">
                <a:latin typeface="+mn-lt"/>
              </a:rPr>
              <a:t>Late aircraft delays are highly correlated with avg delays.</a:t>
            </a:r>
          </a:p>
          <a:p>
            <a:r>
              <a:rPr lang="en-IN" sz="2400" b="0" dirty="0">
                <a:latin typeface="+mn-lt"/>
              </a:rPr>
              <a:t>Regression explains ~96% of delay variance, but multicollinearity exists.</a:t>
            </a:r>
          </a:p>
          <a:p>
            <a:r>
              <a:rPr lang="en-IN" sz="2400" b="0" dirty="0">
                <a:latin typeface="+mn-lt"/>
              </a:rPr>
              <a:t>Security delay contributes nothing in your dataset.</a:t>
            </a:r>
            <a:endParaRPr lang="en-US" sz="2400" b="0" dirty="0">
              <a:latin typeface="+mn-lt"/>
            </a:endParaRPr>
          </a:p>
          <a:p>
            <a:pPr marL="0" indent="0">
              <a:buNone/>
            </a:pPr>
            <a:endParaRPr lang="en-IN" sz="2200" b="0" dirty="0">
              <a:latin typeface="+mn-lt"/>
            </a:endParaRPr>
          </a:p>
        </p:txBody>
      </p:sp>
    </p:spTree>
    <p:extLst>
      <p:ext uri="{BB962C8B-B14F-4D97-AF65-F5344CB8AC3E}">
        <p14:creationId xmlns:p14="http://schemas.microsoft.com/office/powerpoint/2010/main" val="2170811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5B353-7C65-AE21-681F-BF13EA7221A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4DA0B88-CA05-EF6F-9B14-4FCD925CD128}"/>
              </a:ext>
            </a:extLst>
          </p:cNvPr>
          <p:cNvSpPr txBox="1"/>
          <p:nvPr/>
        </p:nvSpPr>
        <p:spPr>
          <a:xfrm>
            <a:off x="255996" y="502545"/>
            <a:ext cx="10624338" cy="646331"/>
          </a:xfrm>
          <a:prstGeom prst="rect">
            <a:avLst/>
          </a:prstGeom>
          <a:noFill/>
        </p:spPr>
        <p:txBody>
          <a:bodyPr wrap="square" rtlCol="0">
            <a:spAutoFit/>
          </a:bodyPr>
          <a:lstStyle/>
          <a:p>
            <a:pPr>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5: </a:t>
            </a:r>
            <a:r>
              <a:rPr lang="en-US" sz="3600" b="1" dirty="0">
                <a:solidFill>
                  <a:schemeClr val="tx2"/>
                </a:solidFill>
              </a:rPr>
              <a:t>Time Series Forecasting of Delay</a:t>
            </a:r>
          </a:p>
        </p:txBody>
      </p:sp>
      <p:cxnSp>
        <p:nvCxnSpPr>
          <p:cNvPr id="5" name="Straight Connector 4">
            <a:extLst>
              <a:ext uri="{FF2B5EF4-FFF2-40B4-BE49-F238E27FC236}">
                <a16:creationId xmlns:a16="http://schemas.microsoft.com/office/drawing/2014/main" id="{4044742B-DA46-A914-FEB0-F4430ED2B3CB}"/>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9A5671F-9FBD-11D2-B79F-FA314BA842C0}"/>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
        <p:nvSpPr>
          <p:cNvPr id="6" name="Text Placeholder 1">
            <a:extLst>
              <a:ext uri="{FF2B5EF4-FFF2-40B4-BE49-F238E27FC236}">
                <a16:creationId xmlns:a16="http://schemas.microsoft.com/office/drawing/2014/main" id="{4353EEC7-B326-024E-5F15-A014918DDD27}"/>
              </a:ext>
            </a:extLst>
          </p:cNvPr>
          <p:cNvSpPr txBox="1">
            <a:spLocks/>
          </p:cNvSpPr>
          <p:nvPr/>
        </p:nvSpPr>
        <p:spPr>
          <a:xfrm>
            <a:off x="719528" y="1708885"/>
            <a:ext cx="10160806" cy="413147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800" b="1" kern="1200" dirty="0">
                <a:solidFill>
                  <a:srgbClr val="0070C0"/>
                </a:solidFill>
                <a:latin typeface="Frutiger 45 bold"/>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0" fontAlgn="base" hangingPunct="0">
              <a:lnSpc>
                <a:spcPct val="100000"/>
              </a:lnSpc>
              <a:spcBef>
                <a:spcPct val="0"/>
              </a:spcBef>
              <a:spcAft>
                <a:spcPct val="0"/>
              </a:spcAft>
            </a:pPr>
            <a:r>
              <a:rPr lang="en-US" altLang="en-US" sz="2400" b="0" dirty="0">
                <a:solidFill>
                  <a:schemeClr val="accent1"/>
                </a:solidFill>
                <a:latin typeface="+mn-lt"/>
              </a:rPr>
              <a:t>The function </a:t>
            </a:r>
            <a:r>
              <a:rPr lang="en-US" altLang="en-US" sz="2400" dirty="0">
                <a:solidFill>
                  <a:schemeClr val="accent1"/>
                </a:solidFill>
                <a:latin typeface="+mn-lt"/>
              </a:rPr>
              <a:t>cleans historical data</a:t>
            </a:r>
            <a:r>
              <a:rPr lang="en-US" altLang="en-US" sz="2400" b="0" dirty="0">
                <a:solidFill>
                  <a:schemeClr val="accent1"/>
                </a:solidFill>
                <a:latin typeface="+mn-lt"/>
              </a:rPr>
              <a:t>, converts it into a </a:t>
            </a:r>
            <a:r>
              <a:rPr lang="en-US" altLang="en-US" sz="2400" dirty="0">
                <a:solidFill>
                  <a:schemeClr val="accent1"/>
                </a:solidFill>
                <a:latin typeface="+mn-lt"/>
              </a:rPr>
              <a:t>monthly time series</a:t>
            </a:r>
            <a:r>
              <a:rPr lang="en-US" altLang="en-US" sz="2400" b="0" dirty="0">
                <a:solidFill>
                  <a:schemeClr val="accent1"/>
                </a:solidFill>
                <a:latin typeface="+mn-lt"/>
              </a:rPr>
              <a:t>, and fills missing months.</a:t>
            </a:r>
          </a:p>
          <a:p>
            <a:pPr eaLnBrk="0" fontAlgn="base" hangingPunct="0">
              <a:lnSpc>
                <a:spcPct val="100000"/>
              </a:lnSpc>
              <a:spcBef>
                <a:spcPct val="0"/>
              </a:spcBef>
              <a:spcAft>
                <a:spcPct val="0"/>
              </a:spcAft>
            </a:pPr>
            <a:r>
              <a:rPr lang="en-US" altLang="en-US" sz="2400" b="0" dirty="0">
                <a:solidFill>
                  <a:schemeClr val="accent1"/>
                </a:solidFill>
                <a:latin typeface="+mn-lt"/>
              </a:rPr>
              <a:t>If data is too small, it uses a </a:t>
            </a:r>
            <a:r>
              <a:rPr lang="en-US" altLang="en-US" sz="2400" dirty="0">
                <a:solidFill>
                  <a:schemeClr val="accent1"/>
                </a:solidFill>
                <a:latin typeface="+mn-lt"/>
              </a:rPr>
              <a:t>rule-based fallback forecast</a:t>
            </a:r>
            <a:r>
              <a:rPr lang="en-US" altLang="en-US" sz="2400" b="0" dirty="0">
                <a:solidFill>
                  <a:schemeClr val="accent1"/>
                </a:solidFill>
                <a:latin typeface="+mn-lt"/>
              </a:rPr>
              <a:t>.</a:t>
            </a:r>
          </a:p>
          <a:p>
            <a:pPr eaLnBrk="0" fontAlgn="base" hangingPunct="0">
              <a:lnSpc>
                <a:spcPct val="100000"/>
              </a:lnSpc>
              <a:spcBef>
                <a:spcPct val="0"/>
              </a:spcBef>
              <a:spcAft>
                <a:spcPct val="0"/>
              </a:spcAft>
            </a:pPr>
            <a:r>
              <a:rPr lang="en-US" altLang="en-US" sz="2400" b="0" dirty="0">
                <a:solidFill>
                  <a:schemeClr val="accent1"/>
                </a:solidFill>
                <a:latin typeface="+mn-lt"/>
              </a:rPr>
              <a:t>Uses </a:t>
            </a:r>
            <a:r>
              <a:rPr lang="en-US" altLang="en-US" sz="2400" dirty="0">
                <a:solidFill>
                  <a:schemeClr val="accent1"/>
                </a:solidFill>
                <a:latin typeface="+mn-lt"/>
              </a:rPr>
              <a:t>SARIMAX (Seasonal ARIMA with exogenous regressors)</a:t>
            </a:r>
            <a:r>
              <a:rPr lang="en-US" altLang="en-US" sz="2400" b="0" dirty="0">
                <a:solidFill>
                  <a:schemeClr val="accent1"/>
                </a:solidFill>
                <a:latin typeface="+mn-lt"/>
              </a:rPr>
              <a:t> to capture </a:t>
            </a:r>
            <a:r>
              <a:rPr lang="en-US" altLang="en-US" sz="2400" dirty="0">
                <a:solidFill>
                  <a:schemeClr val="accent1"/>
                </a:solidFill>
                <a:latin typeface="+mn-lt"/>
              </a:rPr>
              <a:t>trend + seasonality</a:t>
            </a:r>
            <a:r>
              <a:rPr lang="en-US" altLang="en-US" sz="2400" b="0" dirty="0">
                <a:solidFill>
                  <a:schemeClr val="accent1"/>
                </a:solidFill>
                <a:latin typeface="+mn-lt"/>
              </a:rPr>
              <a:t>.</a:t>
            </a:r>
          </a:p>
          <a:p>
            <a:pPr eaLnBrk="0" fontAlgn="base" hangingPunct="0">
              <a:lnSpc>
                <a:spcPct val="100000"/>
              </a:lnSpc>
              <a:spcBef>
                <a:spcPct val="0"/>
              </a:spcBef>
              <a:spcAft>
                <a:spcPct val="0"/>
              </a:spcAft>
            </a:pPr>
            <a:r>
              <a:rPr lang="en-US" altLang="en-US" sz="2400" b="0" dirty="0">
                <a:solidFill>
                  <a:schemeClr val="accent1"/>
                </a:solidFill>
                <a:latin typeface="+mn-lt"/>
              </a:rPr>
              <a:t>Returns a </a:t>
            </a:r>
            <a:r>
              <a:rPr lang="en-US" altLang="en-US" sz="2400" dirty="0">
                <a:solidFill>
                  <a:schemeClr val="accent1"/>
                </a:solidFill>
                <a:latin typeface="+mn-lt"/>
              </a:rPr>
              <a:t>single numeric prediction</a:t>
            </a:r>
            <a:r>
              <a:rPr lang="en-US" altLang="en-US" sz="2400" b="0" dirty="0">
                <a:solidFill>
                  <a:schemeClr val="accent1"/>
                </a:solidFill>
                <a:latin typeface="+mn-lt"/>
              </a:rPr>
              <a:t> for the next month’s </a:t>
            </a:r>
            <a:r>
              <a:rPr lang="en-US" altLang="en-US" sz="2400" dirty="0">
                <a:solidFill>
                  <a:schemeClr val="accent1"/>
                </a:solidFill>
                <a:latin typeface="+mn-lt"/>
              </a:rPr>
              <a:t>average delay</a:t>
            </a:r>
            <a:r>
              <a:rPr lang="en-US" altLang="en-US" sz="2400" b="0" dirty="0">
                <a:solidFill>
                  <a:schemeClr val="accent1"/>
                </a:solidFill>
                <a:latin typeface="+mn-lt"/>
              </a:rPr>
              <a:t>.</a:t>
            </a:r>
          </a:p>
        </p:txBody>
      </p:sp>
    </p:spTree>
    <p:extLst>
      <p:ext uri="{BB962C8B-B14F-4D97-AF65-F5344CB8AC3E}">
        <p14:creationId xmlns:p14="http://schemas.microsoft.com/office/powerpoint/2010/main" val="3290569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3762B-83D7-BD62-97C2-AA897DD1D32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45E77E6-08A6-11A3-AD0A-37519886F9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6: Delay Attribution Model</a:t>
            </a:r>
          </a:p>
        </p:txBody>
      </p:sp>
      <p:cxnSp>
        <p:nvCxnSpPr>
          <p:cNvPr id="5" name="Straight Connector 4">
            <a:extLst>
              <a:ext uri="{FF2B5EF4-FFF2-40B4-BE49-F238E27FC236}">
                <a16:creationId xmlns:a16="http://schemas.microsoft.com/office/drawing/2014/main" id="{219AECA4-08E2-6B7B-7145-45CBF88EFA26}"/>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351DF1CA-F975-D96E-DC97-6533A1ED01FA}"/>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
        <p:nvSpPr>
          <p:cNvPr id="8" name="Text Placeholder 1">
            <a:extLst>
              <a:ext uri="{FF2B5EF4-FFF2-40B4-BE49-F238E27FC236}">
                <a16:creationId xmlns:a16="http://schemas.microsoft.com/office/drawing/2014/main" id="{F11A4031-A4DC-1279-D7AE-D16DEF0112D1}"/>
              </a:ext>
            </a:extLst>
          </p:cNvPr>
          <p:cNvSpPr txBox="1">
            <a:spLocks/>
          </p:cNvSpPr>
          <p:nvPr/>
        </p:nvSpPr>
        <p:spPr>
          <a:xfrm>
            <a:off x="719528" y="1708885"/>
            <a:ext cx="6379362" cy="413147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800" b="1" kern="1200" dirty="0">
                <a:solidFill>
                  <a:srgbClr val="0070C0"/>
                </a:solidFill>
                <a:latin typeface="Frutiger 45 bold"/>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0" fontAlgn="base" hangingPunct="0">
              <a:lnSpc>
                <a:spcPct val="100000"/>
              </a:lnSpc>
              <a:spcBef>
                <a:spcPct val="0"/>
              </a:spcBef>
              <a:spcAft>
                <a:spcPct val="0"/>
              </a:spcAft>
            </a:pPr>
            <a:r>
              <a:rPr lang="en-US" altLang="en-US" sz="2400" b="0" dirty="0">
                <a:solidFill>
                  <a:schemeClr val="accent1"/>
                </a:solidFill>
                <a:latin typeface="+mn-lt"/>
              </a:rPr>
              <a:t>Converts the input row into a </a:t>
            </a:r>
            <a:r>
              <a:rPr lang="en-US" altLang="en-US" sz="2400" b="0" dirty="0" err="1">
                <a:solidFill>
                  <a:schemeClr val="accent1"/>
                </a:solidFill>
                <a:latin typeface="+mn-lt"/>
              </a:rPr>
              <a:t>DataFrame</a:t>
            </a:r>
            <a:r>
              <a:rPr lang="en-US" altLang="en-US" sz="2400" b="0" dirty="0">
                <a:solidFill>
                  <a:schemeClr val="accent1"/>
                </a:solidFill>
                <a:latin typeface="+mn-lt"/>
              </a:rPr>
              <a:t> with the correct feature columns.</a:t>
            </a:r>
          </a:p>
          <a:p>
            <a:pPr eaLnBrk="0" fontAlgn="base" hangingPunct="0">
              <a:lnSpc>
                <a:spcPct val="100000"/>
              </a:lnSpc>
              <a:spcBef>
                <a:spcPct val="0"/>
              </a:spcBef>
              <a:spcAft>
                <a:spcPct val="0"/>
              </a:spcAft>
            </a:pPr>
            <a:r>
              <a:rPr lang="en-US" altLang="en-US" sz="2400" b="0" dirty="0">
                <a:solidFill>
                  <a:schemeClr val="accent1"/>
                </a:solidFill>
                <a:latin typeface="+mn-lt"/>
              </a:rPr>
              <a:t>Applies the same imputer used during training.</a:t>
            </a:r>
          </a:p>
          <a:p>
            <a:pPr eaLnBrk="0" fontAlgn="base" hangingPunct="0">
              <a:lnSpc>
                <a:spcPct val="100000"/>
              </a:lnSpc>
              <a:spcBef>
                <a:spcPct val="0"/>
              </a:spcBef>
              <a:spcAft>
                <a:spcPct val="0"/>
              </a:spcAft>
            </a:pPr>
            <a:r>
              <a:rPr lang="en-US" altLang="en-US" sz="2400" b="0" dirty="0">
                <a:solidFill>
                  <a:schemeClr val="accent1"/>
                </a:solidFill>
                <a:latin typeface="+mn-lt"/>
              </a:rPr>
              <a:t>Uses the trained model to predict the total delay (pred) using Linear Regression Model.</a:t>
            </a:r>
          </a:p>
          <a:p>
            <a:pPr eaLnBrk="0" fontAlgn="base" hangingPunct="0">
              <a:lnSpc>
                <a:spcPct val="100000"/>
              </a:lnSpc>
              <a:spcBef>
                <a:spcPct val="0"/>
              </a:spcBef>
              <a:spcAft>
                <a:spcPct val="0"/>
              </a:spcAft>
            </a:pPr>
            <a:r>
              <a:rPr lang="en-US" altLang="en-US" sz="2400" b="0" dirty="0">
                <a:solidFill>
                  <a:schemeClr val="accent1"/>
                </a:solidFill>
                <a:latin typeface="+mn-lt"/>
              </a:rPr>
              <a:t>Calculates a </a:t>
            </a:r>
            <a:r>
              <a:rPr lang="en-US" altLang="en-US" sz="2400" dirty="0">
                <a:solidFill>
                  <a:schemeClr val="accent1"/>
                </a:solidFill>
                <a:latin typeface="+mn-lt"/>
              </a:rPr>
              <a:t>percentage breakdown</a:t>
            </a:r>
            <a:r>
              <a:rPr lang="en-US" altLang="en-US" sz="2400" b="0" dirty="0">
                <a:solidFill>
                  <a:schemeClr val="accent1"/>
                </a:solidFill>
                <a:latin typeface="+mn-lt"/>
              </a:rPr>
              <a:t> of contributions by feature:</a:t>
            </a:r>
          </a:p>
          <a:p>
            <a:pPr eaLnBrk="0" fontAlgn="base" hangingPunct="0">
              <a:lnSpc>
                <a:spcPct val="100000"/>
              </a:lnSpc>
              <a:spcBef>
                <a:spcPct val="0"/>
              </a:spcBef>
              <a:spcAft>
                <a:spcPct val="0"/>
              </a:spcAft>
            </a:pPr>
            <a:r>
              <a:rPr lang="en-US" altLang="en-US" sz="2400" b="0" dirty="0">
                <a:solidFill>
                  <a:schemeClr val="accent1"/>
                </a:solidFill>
                <a:latin typeface="+mn-lt"/>
              </a:rPr>
              <a:t>Example: if the imputed feature values sum to total, each feature’s contribution is (</a:t>
            </a:r>
            <a:r>
              <a:rPr lang="en-US" altLang="en-US" sz="2400" b="0" dirty="0" err="1">
                <a:solidFill>
                  <a:schemeClr val="accent1"/>
                </a:solidFill>
                <a:latin typeface="+mn-lt"/>
              </a:rPr>
              <a:t>feature_value</a:t>
            </a:r>
            <a:r>
              <a:rPr lang="en-US" altLang="en-US" sz="2400" b="0" dirty="0">
                <a:solidFill>
                  <a:schemeClr val="accent1"/>
                </a:solidFill>
                <a:latin typeface="+mn-lt"/>
              </a:rPr>
              <a:t> / total * 100)</a:t>
            </a:r>
          </a:p>
          <a:p>
            <a:pPr eaLnBrk="0" fontAlgn="base" hangingPunct="0">
              <a:lnSpc>
                <a:spcPct val="100000"/>
              </a:lnSpc>
              <a:spcBef>
                <a:spcPct val="0"/>
              </a:spcBef>
              <a:spcAft>
                <a:spcPct val="0"/>
              </a:spcAft>
            </a:pPr>
            <a:r>
              <a:rPr lang="en-US" altLang="en-US" sz="2400" b="0" dirty="0">
                <a:solidFill>
                  <a:schemeClr val="accent1"/>
                </a:solidFill>
                <a:latin typeface="+mn-lt"/>
              </a:rPr>
              <a:t>Returns a dictionary of feature contributions.</a:t>
            </a:r>
          </a:p>
        </p:txBody>
      </p:sp>
      <p:pic>
        <p:nvPicPr>
          <p:cNvPr id="6" name="Picture 5">
            <a:extLst>
              <a:ext uri="{FF2B5EF4-FFF2-40B4-BE49-F238E27FC236}">
                <a16:creationId xmlns:a16="http://schemas.microsoft.com/office/drawing/2014/main" id="{5E44D682-3EA6-E7D2-3C23-4704449291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6046" y="1379589"/>
            <a:ext cx="3733800" cy="4610100"/>
          </a:xfrm>
          <a:prstGeom prst="rect">
            <a:avLst/>
          </a:prstGeom>
        </p:spPr>
      </p:pic>
    </p:spTree>
    <p:extLst>
      <p:ext uri="{BB962C8B-B14F-4D97-AF65-F5344CB8AC3E}">
        <p14:creationId xmlns:p14="http://schemas.microsoft.com/office/powerpoint/2010/main" val="186647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7296E-DE65-29AF-03A8-E88B4716813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E9893A8-64F6-A01E-2397-20698C823675}"/>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7: </a:t>
            </a:r>
            <a:r>
              <a:rPr lang="en-US" sz="3600" b="1" dirty="0">
                <a:solidFill>
                  <a:srgbClr val="5B9BD5">
                    <a:lumMod val="50000"/>
                  </a:srgbClr>
                </a:solidFill>
                <a:latin typeface="Calibri" panose="020F0502020204030204"/>
              </a:rPr>
              <a:t>LLM integration &amp; Evaluation generation </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87E22067-7DB3-C3D2-F5B9-DF0F60FE86CB}"/>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FB0B8B2-BAF7-E93B-08F3-3BED860C13B6}"/>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
        <p:nvSpPr>
          <p:cNvPr id="8" name="Text Placeholder 1">
            <a:extLst>
              <a:ext uri="{FF2B5EF4-FFF2-40B4-BE49-F238E27FC236}">
                <a16:creationId xmlns:a16="http://schemas.microsoft.com/office/drawing/2014/main" id="{E44B9EBC-F6E5-7EA1-1ED7-8DEF3CD43589}"/>
              </a:ext>
            </a:extLst>
          </p:cNvPr>
          <p:cNvSpPr txBox="1">
            <a:spLocks/>
          </p:cNvSpPr>
          <p:nvPr/>
        </p:nvSpPr>
        <p:spPr>
          <a:xfrm>
            <a:off x="719528" y="1708885"/>
            <a:ext cx="10160806" cy="413147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800" b="1" kern="1200" dirty="0">
                <a:solidFill>
                  <a:srgbClr val="0070C0"/>
                </a:solidFill>
                <a:latin typeface="Frutiger 45 bold"/>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2400" b="0" dirty="0">
                <a:latin typeface="+mn-lt"/>
              </a:rPr>
              <a:t>Key Steps:</a:t>
            </a:r>
          </a:p>
          <a:p>
            <a:r>
              <a:rPr lang="en-IN" sz="2400" b="0" dirty="0">
                <a:latin typeface="+mn-lt"/>
              </a:rPr>
              <a:t>API / Framework Connection → Using Hugging Face, OpenAI, </a:t>
            </a:r>
            <a:r>
              <a:rPr lang="en-IN" sz="2400" b="0" dirty="0" err="1">
                <a:latin typeface="+mn-lt"/>
              </a:rPr>
              <a:t>LangChain</a:t>
            </a:r>
            <a:r>
              <a:rPr lang="en-IN" sz="2400" b="0" dirty="0">
                <a:latin typeface="+mn-lt"/>
              </a:rPr>
              <a:t>, RAG pipelines, or in-house fine-tuned LLMs.</a:t>
            </a:r>
          </a:p>
          <a:p>
            <a:r>
              <a:rPr lang="en-IN" sz="2400" b="0" dirty="0">
                <a:latin typeface="+mn-lt"/>
              </a:rPr>
              <a:t>Preprocessing → Converting structured/unstructured data into prompt-friendly format (e.g., JSON → natural language).</a:t>
            </a:r>
          </a:p>
          <a:p>
            <a:r>
              <a:rPr lang="en-IN" sz="2400" b="0" dirty="0">
                <a:latin typeface="+mn-lt"/>
              </a:rPr>
              <a:t>Prompt Engineering → Designing clear prompts with context, instructions, and examples.</a:t>
            </a:r>
          </a:p>
          <a:p>
            <a:r>
              <a:rPr lang="en-IN" sz="2400" b="0" dirty="0">
                <a:latin typeface="+mn-lt"/>
              </a:rPr>
              <a:t>Deployment → Exposing the LLM service via REST API, chatbot, or embedded app integration.</a:t>
            </a:r>
          </a:p>
        </p:txBody>
      </p:sp>
    </p:spTree>
    <p:extLst>
      <p:ext uri="{BB962C8B-B14F-4D97-AF65-F5344CB8AC3E}">
        <p14:creationId xmlns:p14="http://schemas.microsoft.com/office/powerpoint/2010/main" val="381427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31666-405B-B817-B58C-E1C535A916E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DC12A42-1E16-79E4-BF5F-EBBC200636F2}"/>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8:UI &amp; Deployment </a:t>
            </a:r>
          </a:p>
        </p:txBody>
      </p:sp>
      <p:cxnSp>
        <p:nvCxnSpPr>
          <p:cNvPr id="5" name="Straight Connector 4">
            <a:extLst>
              <a:ext uri="{FF2B5EF4-FFF2-40B4-BE49-F238E27FC236}">
                <a16:creationId xmlns:a16="http://schemas.microsoft.com/office/drawing/2014/main" id="{BEE87C75-11BB-3AFA-1BD0-532631B05D3C}"/>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164F547-4D2C-6E05-C864-F6B9DEEC848C}"/>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
        <p:nvSpPr>
          <p:cNvPr id="8" name="Text Placeholder 1">
            <a:extLst>
              <a:ext uri="{FF2B5EF4-FFF2-40B4-BE49-F238E27FC236}">
                <a16:creationId xmlns:a16="http://schemas.microsoft.com/office/drawing/2014/main" id="{A5DCDC20-9DC2-435B-B26B-969155D7CF57}"/>
              </a:ext>
            </a:extLst>
          </p:cNvPr>
          <p:cNvSpPr txBox="1">
            <a:spLocks/>
          </p:cNvSpPr>
          <p:nvPr/>
        </p:nvSpPr>
        <p:spPr>
          <a:xfrm>
            <a:off x="719528" y="1708885"/>
            <a:ext cx="10160806" cy="413147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800" b="1" kern="1200" dirty="0">
                <a:solidFill>
                  <a:srgbClr val="0070C0"/>
                </a:solidFill>
                <a:latin typeface="Frutiger 45 bold"/>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sz="2400" b="0" dirty="0">
              <a:latin typeface="+mn-lt"/>
            </a:endParaRPr>
          </a:p>
        </p:txBody>
      </p:sp>
      <p:sp>
        <p:nvSpPr>
          <p:cNvPr id="7" name="Text Placeholder 1">
            <a:extLst>
              <a:ext uri="{FF2B5EF4-FFF2-40B4-BE49-F238E27FC236}">
                <a16:creationId xmlns:a16="http://schemas.microsoft.com/office/drawing/2014/main" id="{953F20F8-66EA-4DC4-A2E4-34AE37AEA225}"/>
              </a:ext>
            </a:extLst>
          </p:cNvPr>
          <p:cNvSpPr txBox="1">
            <a:spLocks/>
          </p:cNvSpPr>
          <p:nvPr/>
        </p:nvSpPr>
        <p:spPr>
          <a:xfrm>
            <a:off x="871928" y="1484028"/>
            <a:ext cx="10160806" cy="48714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800" b="1" kern="1200" dirty="0">
                <a:solidFill>
                  <a:srgbClr val="0070C0"/>
                </a:solidFill>
                <a:latin typeface="Frutiger 45 bold"/>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IN" sz="2000" b="0" dirty="0">
                <a:latin typeface="+mn-lt"/>
              </a:rPr>
              <a:t> Interactive </a:t>
            </a:r>
            <a:r>
              <a:rPr lang="en-IN" sz="2000" b="0" dirty="0" err="1">
                <a:latin typeface="+mn-lt"/>
              </a:rPr>
              <a:t>Streamlit</a:t>
            </a:r>
            <a:r>
              <a:rPr lang="en-IN" sz="2000" b="0" dirty="0">
                <a:latin typeface="+mn-lt"/>
              </a:rPr>
              <a:t> </a:t>
            </a:r>
          </a:p>
          <a:p>
            <a:pPr marL="0" indent="0">
              <a:buNone/>
            </a:pPr>
            <a:r>
              <a:rPr lang="en-US" sz="2000" b="0" dirty="0">
                <a:latin typeface="+mn-lt"/>
              </a:rPr>
              <a:t>         - Sidebar inputs for carrier, airport, and forecast month</a:t>
            </a:r>
          </a:p>
          <a:p>
            <a:pPr marL="0" indent="0">
              <a:buNone/>
            </a:pPr>
            <a:r>
              <a:rPr lang="en-US" sz="2000" b="0" dirty="0">
                <a:latin typeface="+mn-lt"/>
              </a:rPr>
              <a:t>         - Dynamic dashboards: forecast metrics, historical trends, delay breakdowns, and maps</a:t>
            </a:r>
          </a:p>
          <a:p>
            <a:pPr marL="0" indent="0">
              <a:buNone/>
            </a:pPr>
            <a:r>
              <a:rPr lang="en-US" sz="2000" b="0" dirty="0">
                <a:latin typeface="+mn-lt"/>
              </a:rPr>
              <a:t>         - Real-time comparison of multiple carriers (bar / trend views)</a:t>
            </a:r>
            <a:endParaRPr lang="en-IN" sz="2000" b="0" dirty="0">
              <a:latin typeface="+mn-lt"/>
            </a:endParaRPr>
          </a:p>
          <a:p>
            <a:pPr>
              <a:buFont typeface="Wingdings" panose="05000000000000000000" pitchFamily="2" charset="2"/>
              <a:buChar char="Ø"/>
            </a:pPr>
            <a:r>
              <a:rPr lang="en-IN" sz="2000" b="0" dirty="0">
                <a:latin typeface="+mn-lt"/>
              </a:rPr>
              <a:t> Visual Insights</a:t>
            </a:r>
          </a:p>
          <a:p>
            <a:pPr marL="0" indent="0">
              <a:buNone/>
            </a:pPr>
            <a:r>
              <a:rPr lang="en-US" sz="2000" b="0" dirty="0">
                <a:latin typeface="+mn-lt"/>
              </a:rPr>
              <a:t>         - </a:t>
            </a:r>
            <a:r>
              <a:rPr lang="en-US" sz="2000" b="0" dirty="0" err="1">
                <a:latin typeface="+mn-lt"/>
              </a:rPr>
              <a:t>Plotly</a:t>
            </a:r>
            <a:r>
              <a:rPr lang="en-US" sz="2000" b="0" dirty="0">
                <a:latin typeface="+mn-lt"/>
              </a:rPr>
              <a:t> charts for delays, distributions, and trends</a:t>
            </a:r>
          </a:p>
          <a:p>
            <a:pPr marL="0" indent="0">
              <a:buNone/>
            </a:pPr>
            <a:r>
              <a:rPr lang="en-US" sz="2000" b="0" dirty="0">
                <a:latin typeface="+mn-lt"/>
              </a:rPr>
              <a:t>         - AI-generated textual explanations for easier interpretation</a:t>
            </a:r>
            <a:endParaRPr lang="en-IN" sz="2000" b="0" dirty="0">
              <a:latin typeface="+mn-lt"/>
            </a:endParaRPr>
          </a:p>
          <a:p>
            <a:pPr>
              <a:buFont typeface="Wingdings" panose="05000000000000000000" pitchFamily="2" charset="2"/>
              <a:buChar char="Ø"/>
            </a:pPr>
            <a:r>
              <a:rPr lang="en-IN" sz="2000" b="0" dirty="0">
                <a:latin typeface="+mn-lt"/>
              </a:rPr>
              <a:t> Backend &amp; Models</a:t>
            </a:r>
          </a:p>
          <a:p>
            <a:pPr marL="0" indent="0">
              <a:buNone/>
            </a:pPr>
            <a:r>
              <a:rPr lang="en-US" sz="2000" b="0" dirty="0">
                <a:latin typeface="+mn-lt"/>
              </a:rPr>
              <a:t>         - ARIMA-based time-series forecasting</a:t>
            </a:r>
          </a:p>
          <a:p>
            <a:pPr marL="0" indent="0">
              <a:buNone/>
            </a:pPr>
            <a:r>
              <a:rPr lang="en-US" sz="2000" b="0" dirty="0">
                <a:latin typeface="+mn-lt"/>
              </a:rPr>
              <a:t>         - Attribution model for delay cause analysis</a:t>
            </a:r>
          </a:p>
          <a:p>
            <a:pPr marL="0" indent="0">
              <a:buNone/>
            </a:pPr>
            <a:r>
              <a:rPr lang="en-US" sz="2000" b="0" dirty="0">
                <a:latin typeface="+mn-lt"/>
              </a:rPr>
              <a:t>         - LLM-driven explanation module</a:t>
            </a:r>
            <a:endParaRPr lang="en-IN" sz="2000" b="0" dirty="0">
              <a:latin typeface="+mn-lt"/>
            </a:endParaRPr>
          </a:p>
        </p:txBody>
      </p:sp>
    </p:spTree>
    <p:extLst>
      <p:ext uri="{BB962C8B-B14F-4D97-AF65-F5344CB8AC3E}">
        <p14:creationId xmlns:p14="http://schemas.microsoft.com/office/powerpoint/2010/main" val="2442036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P spid="7"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6ADE1-9C3E-93A2-ADE7-997C11EA9D6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86C66AE-5D61-2496-D192-E2604EDF32AF}"/>
              </a:ext>
            </a:extLst>
          </p:cNvPr>
          <p:cNvSpPr txBox="1"/>
          <p:nvPr/>
        </p:nvSpPr>
        <p:spPr>
          <a:xfrm>
            <a:off x="255996" y="409175"/>
            <a:ext cx="10624338" cy="646331"/>
          </a:xfrm>
          <a:prstGeom prst="rect">
            <a:avLst/>
          </a:prstGeom>
          <a:noFill/>
        </p:spPr>
        <p:txBody>
          <a:bodyPr wrap="square" rtlCol="0">
            <a:spAutoFit/>
          </a:bodyPr>
          <a:lstStyle/>
          <a:p>
            <a:pPr>
              <a:defRPr/>
            </a:pPr>
            <a:r>
              <a:rPr lang="en-US" sz="3600" b="1" dirty="0">
                <a:solidFill>
                  <a:srgbClr val="5B9BD5">
                    <a:lumMod val="50000"/>
                  </a:srgbClr>
                </a:solidFill>
                <a:latin typeface="Calibri" panose="020F0502020204030204"/>
              </a:rPr>
              <a:t>Step</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a:t>
            </a:r>
            <a:r>
              <a:rPr lang="en-US" sz="3600" b="1" dirty="0">
                <a:solidFill>
                  <a:srgbClr val="5B9BD5">
                    <a:lumMod val="50000"/>
                  </a:srgbClr>
                </a:solidFill>
                <a:latin typeface="Calibri" panose="020F0502020204030204"/>
              </a:rPr>
              <a:t>9</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 </a:t>
            </a:r>
            <a:r>
              <a:rPr lang="en-US" sz="3600" b="1" dirty="0">
                <a:solidFill>
                  <a:schemeClr val="accent5">
                    <a:lumMod val="50000"/>
                  </a:schemeClr>
                </a:solidFill>
              </a:rPr>
              <a:t>Findings &amp; Result </a:t>
            </a:r>
          </a:p>
        </p:txBody>
      </p:sp>
      <p:cxnSp>
        <p:nvCxnSpPr>
          <p:cNvPr id="5" name="Straight Connector 4">
            <a:extLst>
              <a:ext uri="{FF2B5EF4-FFF2-40B4-BE49-F238E27FC236}">
                <a16:creationId xmlns:a16="http://schemas.microsoft.com/office/drawing/2014/main" id="{0259232E-4979-2F5D-6B35-924979B03FF7}"/>
              </a:ext>
            </a:extLst>
          </p:cNvPr>
          <p:cNvCxnSpPr>
            <a:cxnSpLocks/>
          </p:cNvCxnSpPr>
          <p:nvPr/>
        </p:nvCxnSpPr>
        <p:spPr>
          <a:xfrm>
            <a:off x="255996" y="105550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3E817146-5AD7-8B0E-910F-7F84753400B5}"/>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
        <p:nvSpPr>
          <p:cNvPr id="8" name="Text Placeholder 1">
            <a:extLst>
              <a:ext uri="{FF2B5EF4-FFF2-40B4-BE49-F238E27FC236}">
                <a16:creationId xmlns:a16="http://schemas.microsoft.com/office/drawing/2014/main" id="{A4E81981-C05D-2C6C-3474-B0ABDE586352}"/>
              </a:ext>
            </a:extLst>
          </p:cNvPr>
          <p:cNvSpPr txBox="1">
            <a:spLocks/>
          </p:cNvSpPr>
          <p:nvPr/>
        </p:nvSpPr>
        <p:spPr>
          <a:xfrm>
            <a:off x="719528" y="1708885"/>
            <a:ext cx="10160806" cy="517784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800" b="1" kern="1200" dirty="0">
                <a:solidFill>
                  <a:srgbClr val="0070C0"/>
                </a:solidFill>
                <a:latin typeface="Frutiger 45 bold"/>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sz="2400" b="0" dirty="0">
              <a:latin typeface="+mn-lt"/>
            </a:endParaRPr>
          </a:p>
        </p:txBody>
      </p:sp>
      <p:sp>
        <p:nvSpPr>
          <p:cNvPr id="2" name="Text Placeholder 1">
            <a:extLst>
              <a:ext uri="{FF2B5EF4-FFF2-40B4-BE49-F238E27FC236}">
                <a16:creationId xmlns:a16="http://schemas.microsoft.com/office/drawing/2014/main" id="{A00AF73D-8882-9B2C-EDD3-297A72ABF8B6}"/>
              </a:ext>
            </a:extLst>
          </p:cNvPr>
          <p:cNvSpPr txBox="1">
            <a:spLocks/>
          </p:cNvSpPr>
          <p:nvPr/>
        </p:nvSpPr>
        <p:spPr>
          <a:xfrm>
            <a:off x="871928" y="1169233"/>
            <a:ext cx="10160806" cy="49167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800" b="1" kern="1200" dirty="0">
                <a:solidFill>
                  <a:srgbClr val="0070C0"/>
                </a:solidFill>
                <a:latin typeface="Frutiger 45 bold"/>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1700" b="0" dirty="0">
                <a:latin typeface="+mn-lt"/>
              </a:rPr>
              <a:t> Model Performance</a:t>
            </a:r>
          </a:p>
          <a:p>
            <a:pPr marL="0" indent="0">
              <a:buNone/>
            </a:pPr>
            <a:r>
              <a:rPr lang="en-US" sz="1700" b="0" dirty="0">
                <a:latin typeface="+mn-lt"/>
              </a:rPr>
              <a:t>         - ARIMA forecasting accuracy within ±5 min MAE</a:t>
            </a:r>
          </a:p>
          <a:p>
            <a:pPr marL="0" indent="0">
              <a:buNone/>
            </a:pPr>
            <a:r>
              <a:rPr lang="en-US" sz="1700" b="0" dirty="0">
                <a:latin typeface="+mn-lt"/>
              </a:rPr>
              <a:t>         - Attribution model explains &gt; 90 % variance in delay contributors</a:t>
            </a:r>
          </a:p>
          <a:p>
            <a:pPr>
              <a:buFont typeface="Wingdings" panose="05000000000000000000" pitchFamily="2" charset="2"/>
              <a:buChar char="Ø"/>
            </a:pPr>
            <a:r>
              <a:rPr lang="en-US" sz="1700" b="0" dirty="0">
                <a:latin typeface="+mn-lt"/>
              </a:rPr>
              <a:t> Key Observations</a:t>
            </a:r>
          </a:p>
          <a:p>
            <a:pPr marL="0" indent="0">
              <a:buNone/>
            </a:pPr>
            <a:r>
              <a:rPr lang="en-US" sz="1700" b="0" dirty="0">
                <a:latin typeface="+mn-lt"/>
              </a:rPr>
              <a:t>         - Late Aircraft Delay &amp; Weather Delay are dominant contributors</a:t>
            </a:r>
          </a:p>
          <a:p>
            <a:pPr marL="0" indent="0">
              <a:buNone/>
            </a:pPr>
            <a:r>
              <a:rPr lang="en-US" sz="1700" b="0" dirty="0">
                <a:latin typeface="+mn-lt"/>
              </a:rPr>
              <a:t>         - Major carriers show consistent delay reduction with improved scheduling</a:t>
            </a:r>
          </a:p>
          <a:p>
            <a:pPr>
              <a:buFont typeface="Wingdings" panose="05000000000000000000" pitchFamily="2" charset="2"/>
              <a:buChar char="Ø"/>
            </a:pPr>
            <a:r>
              <a:rPr lang="en-US" sz="1700" b="0" dirty="0">
                <a:latin typeface="+mn-lt"/>
              </a:rPr>
              <a:t> Forecast Insights</a:t>
            </a:r>
          </a:p>
          <a:p>
            <a:pPr marL="0" indent="0">
              <a:buNone/>
            </a:pPr>
            <a:r>
              <a:rPr lang="en-US" sz="1700" b="0" dirty="0">
                <a:latin typeface="+mn-lt"/>
              </a:rPr>
              <a:t>         - Predictive trends help airports anticipate congestion</a:t>
            </a:r>
          </a:p>
          <a:p>
            <a:pPr marL="0" indent="0">
              <a:buNone/>
            </a:pPr>
            <a:r>
              <a:rPr lang="en-US" sz="1700" b="0" dirty="0">
                <a:latin typeface="+mn-lt"/>
              </a:rPr>
              <a:t>         - Enables better gate/resource allocation for upcoming months</a:t>
            </a:r>
          </a:p>
          <a:p>
            <a:pPr>
              <a:buFont typeface="Wingdings" panose="05000000000000000000" pitchFamily="2" charset="2"/>
              <a:buChar char="Ø"/>
            </a:pPr>
            <a:r>
              <a:rPr lang="en-US" sz="1700" b="0" dirty="0">
                <a:latin typeface="+mn-lt"/>
              </a:rPr>
              <a:t> Comparative Analysis</a:t>
            </a:r>
          </a:p>
          <a:p>
            <a:pPr marL="0" indent="0">
              <a:buNone/>
            </a:pPr>
            <a:r>
              <a:rPr lang="en-US" sz="1700" b="0" dirty="0">
                <a:latin typeface="+mn-lt"/>
              </a:rPr>
              <a:t>         - Side-by-side visualization revealed carrier-specific delay patterns</a:t>
            </a:r>
          </a:p>
          <a:p>
            <a:pPr marL="0" indent="0">
              <a:buNone/>
            </a:pPr>
            <a:r>
              <a:rPr lang="en-US" sz="1700" b="0" dirty="0">
                <a:latin typeface="+mn-lt"/>
              </a:rPr>
              <a:t>         - Trendlines indicate recovery or worsening delay performance over the last 12 months</a:t>
            </a:r>
          </a:p>
          <a:p>
            <a:pPr>
              <a:buFont typeface="Wingdings" panose="05000000000000000000" pitchFamily="2" charset="2"/>
              <a:buChar char="Ø"/>
            </a:pPr>
            <a:r>
              <a:rPr lang="en-US" sz="1700" b="0" dirty="0">
                <a:latin typeface="+mn-lt"/>
              </a:rPr>
              <a:t> Impact</a:t>
            </a:r>
          </a:p>
          <a:p>
            <a:pPr marL="0" indent="0">
              <a:buNone/>
            </a:pPr>
            <a:r>
              <a:rPr lang="en-US" sz="1700" b="0" dirty="0">
                <a:latin typeface="+mn-lt"/>
              </a:rPr>
              <a:t>         - Data-driven decision-making for airlines &amp; regulators</a:t>
            </a:r>
          </a:p>
          <a:p>
            <a:pPr marL="0" indent="0">
              <a:buNone/>
            </a:pPr>
            <a:r>
              <a:rPr lang="en-US" sz="1700" b="0" dirty="0">
                <a:latin typeface="+mn-lt"/>
              </a:rPr>
              <a:t>         - Improved passenger experience through proactive delay management</a:t>
            </a:r>
          </a:p>
          <a:p>
            <a:pPr marL="0" indent="0">
              <a:buNone/>
            </a:pPr>
            <a:endParaRPr lang="en-US" sz="1700" b="0" dirty="0">
              <a:latin typeface="+mn-lt"/>
            </a:endParaRPr>
          </a:p>
        </p:txBody>
      </p:sp>
    </p:spTree>
    <p:extLst>
      <p:ext uri="{BB962C8B-B14F-4D97-AF65-F5344CB8AC3E}">
        <p14:creationId xmlns:p14="http://schemas.microsoft.com/office/powerpoint/2010/main" val="2349629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P spid="2"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8A78931-72B4-2DF4-1362-8F2054BB9E95}"/>
              </a:ext>
            </a:extLst>
          </p:cNvPr>
          <p:cNvSpPr txBox="1"/>
          <p:nvPr/>
        </p:nvSpPr>
        <p:spPr>
          <a:xfrm>
            <a:off x="255996" y="473857"/>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Conclusion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sp>
        <p:nvSpPr>
          <p:cNvPr id="5" name="Text Placeholder 1">
            <a:extLst>
              <a:ext uri="{FF2B5EF4-FFF2-40B4-BE49-F238E27FC236}">
                <a16:creationId xmlns:a16="http://schemas.microsoft.com/office/drawing/2014/main" id="{DA216F95-D674-74A6-AD76-55AEB81DEFEC}"/>
              </a:ext>
            </a:extLst>
          </p:cNvPr>
          <p:cNvSpPr txBox="1">
            <a:spLocks/>
          </p:cNvSpPr>
          <p:nvPr/>
        </p:nvSpPr>
        <p:spPr>
          <a:xfrm>
            <a:off x="719528" y="1319135"/>
            <a:ext cx="10160806" cy="452122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800" b="1" kern="1200" dirty="0">
                <a:solidFill>
                  <a:srgbClr val="0070C0"/>
                </a:solidFill>
                <a:latin typeface="Frutiger 45 bold"/>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0" dirty="0">
                <a:latin typeface="+mn-lt"/>
              </a:rPr>
              <a:t>Developed a comprehensive Flight Delay Predictor &amp; Analyzer using Machine Learning and AI.</a:t>
            </a:r>
          </a:p>
          <a:p>
            <a:r>
              <a:rPr lang="en-US" sz="2400" b="0" dirty="0">
                <a:latin typeface="+mn-lt"/>
              </a:rPr>
              <a:t>Delivered an interactive </a:t>
            </a:r>
            <a:r>
              <a:rPr lang="en-US" sz="2400" b="0" dirty="0" err="1">
                <a:latin typeface="+mn-lt"/>
              </a:rPr>
              <a:t>Streamlit</a:t>
            </a:r>
            <a:r>
              <a:rPr lang="en-US" sz="2400" b="0" dirty="0">
                <a:latin typeface="+mn-lt"/>
              </a:rPr>
              <a:t> dashboard integrating forecasting, breakdown analysis, and visualization.</a:t>
            </a:r>
          </a:p>
          <a:p>
            <a:r>
              <a:rPr lang="en-US" sz="2400" b="0" dirty="0">
                <a:latin typeface="+mn-lt"/>
              </a:rPr>
              <a:t>Implemented ARIMA-based time series forecasting for accurate delay predictions.</a:t>
            </a:r>
          </a:p>
          <a:p>
            <a:r>
              <a:rPr lang="en-US" sz="2400" b="0" dirty="0">
                <a:latin typeface="+mn-lt"/>
              </a:rPr>
              <a:t>Introduced an AI explanation module for interpretability and trust in results.</a:t>
            </a:r>
          </a:p>
          <a:p>
            <a:r>
              <a:rPr lang="en-US" sz="2400" b="0" dirty="0">
                <a:latin typeface="+mn-lt"/>
              </a:rPr>
              <a:t>Comparative insights across carriers provided actionable intelligence for airline operations optimization.</a:t>
            </a:r>
          </a:p>
          <a:p>
            <a:r>
              <a:rPr lang="en-US" sz="2400" b="0" dirty="0">
                <a:latin typeface="+mn-lt"/>
              </a:rPr>
              <a:t>Overall, the project demonstrates how data-driven intelligence can significantly enhance aviation planning and passenger experience.</a:t>
            </a:r>
          </a:p>
        </p:txBody>
      </p:sp>
    </p:spTree>
    <p:extLst>
      <p:ext uri="{BB962C8B-B14F-4D97-AF65-F5344CB8AC3E}">
        <p14:creationId xmlns:p14="http://schemas.microsoft.com/office/powerpoint/2010/main" val="3832201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28DFC-0FCE-ECB2-2239-20B3CA5DA91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B3B1220-B69D-C570-1D8D-0C42B3FD2530}"/>
              </a:ext>
            </a:extLst>
          </p:cNvPr>
          <p:cNvSpPr txBox="1"/>
          <p:nvPr/>
        </p:nvSpPr>
        <p:spPr>
          <a:xfrm>
            <a:off x="255996" y="473857"/>
            <a:ext cx="10624338" cy="646331"/>
          </a:xfrm>
          <a:prstGeom prst="rect">
            <a:avLst/>
          </a:prstGeom>
          <a:noFill/>
        </p:spPr>
        <p:txBody>
          <a:bodyPr wrap="square" rtlCol="0">
            <a:spAutoFit/>
          </a:bodyPr>
          <a:lstStyle/>
          <a:p>
            <a:pPr lvl="0">
              <a:defRPr/>
            </a:pPr>
            <a:r>
              <a:rPr lang="fr-FR" sz="3600" b="1" dirty="0" err="1">
                <a:solidFill>
                  <a:srgbClr val="5B9BD5">
                    <a:lumMod val="50000"/>
                  </a:srgbClr>
                </a:solidFill>
              </a:rPr>
              <a:t>Acknowledgement</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sp>
        <p:nvSpPr>
          <p:cNvPr id="3" name="Text Placeholder 1">
            <a:extLst>
              <a:ext uri="{FF2B5EF4-FFF2-40B4-BE49-F238E27FC236}">
                <a16:creationId xmlns:a16="http://schemas.microsoft.com/office/drawing/2014/main" id="{397AE37E-302B-E9E1-A31C-784F670FB99F}"/>
              </a:ext>
            </a:extLst>
          </p:cNvPr>
          <p:cNvSpPr txBox="1">
            <a:spLocks/>
          </p:cNvSpPr>
          <p:nvPr/>
        </p:nvSpPr>
        <p:spPr>
          <a:xfrm>
            <a:off x="719528" y="1708885"/>
            <a:ext cx="10160806" cy="413147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800" b="1" kern="1200" dirty="0">
                <a:solidFill>
                  <a:srgbClr val="0070C0"/>
                </a:solidFill>
                <a:latin typeface="Frutiger 45 bold"/>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sz="2400" b="0" dirty="0">
              <a:latin typeface="+mn-lt"/>
            </a:endParaRPr>
          </a:p>
        </p:txBody>
      </p:sp>
    </p:spTree>
    <p:extLst>
      <p:ext uri="{BB962C8B-B14F-4D97-AF65-F5344CB8AC3E}">
        <p14:creationId xmlns:p14="http://schemas.microsoft.com/office/powerpoint/2010/main" val="321631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B140E-14BD-8BAD-ECFB-36B128F6E77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7475499-AF7E-16F8-E976-93E0111F0913}"/>
              </a:ext>
            </a:extLst>
          </p:cNvPr>
          <p:cNvSpPr txBox="1"/>
          <p:nvPr/>
        </p:nvSpPr>
        <p:spPr>
          <a:xfrm>
            <a:off x="255996" y="473857"/>
            <a:ext cx="10624338" cy="646331"/>
          </a:xfrm>
          <a:prstGeom prst="rect">
            <a:avLst/>
          </a:prstGeom>
          <a:noFill/>
        </p:spPr>
        <p:txBody>
          <a:bodyPr wrap="square" rtlCol="0">
            <a:spAutoFit/>
          </a:bodyPr>
          <a:lstStyle/>
          <a:p>
            <a:pPr lvl="0">
              <a:defRPr/>
            </a:pPr>
            <a:r>
              <a:rPr lang="fr-FR" sz="3600" b="1" dirty="0" err="1">
                <a:solidFill>
                  <a:srgbClr val="5B9BD5">
                    <a:lumMod val="50000"/>
                  </a:srgbClr>
                </a:solidFill>
              </a:rPr>
              <a:t>References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EB7B142E-C151-5689-D8C2-8AA0ADCA7898}"/>
              </a:ext>
            </a:extLst>
          </p:cNvPr>
          <p:cNvSpPr txBox="1"/>
          <p:nvPr/>
        </p:nvSpPr>
        <p:spPr>
          <a:xfrm>
            <a:off x="434714" y="1319134"/>
            <a:ext cx="11077731" cy="2585323"/>
          </a:xfrm>
          <a:prstGeom prst="rect">
            <a:avLst/>
          </a:prstGeom>
          <a:noFill/>
        </p:spPr>
        <p:txBody>
          <a:bodyPr wrap="square">
            <a:spAutoFit/>
          </a:bodyPr>
          <a:lstStyle/>
          <a:p>
            <a:pPr marL="285750" indent="-285750">
              <a:buFont typeface="Arial" panose="020B0604020202020204" pitchFamily="34" charset="0"/>
              <a:buChar char="•"/>
            </a:pPr>
            <a:r>
              <a:rPr lang="en-IN" dirty="0"/>
              <a:t>Bureau of Transportation Statistics (BTS) – Flight Delay Data</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U.S. Department of Transportation – On-Time Performance Dataset</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NOAA – Historical Weather Data Repository</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err="1"/>
              <a:t>Streamlit</a:t>
            </a:r>
            <a:r>
              <a:rPr lang="en-IN" dirty="0"/>
              <a:t> &amp; </a:t>
            </a:r>
            <a:r>
              <a:rPr lang="en-IN" dirty="0" err="1"/>
              <a:t>Plotly</a:t>
            </a:r>
            <a:r>
              <a:rPr lang="en-IN" dirty="0"/>
              <a:t> Documentation – Interactive Dashboard Development</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scikit-learn, </a:t>
            </a:r>
            <a:r>
              <a:rPr lang="en-IN" dirty="0" err="1"/>
              <a:t>statsmodels</a:t>
            </a:r>
            <a:r>
              <a:rPr lang="en-IN" dirty="0"/>
              <a:t>, pandas, and NumPy – Machine Learning &amp; Forecasting Libraries</a:t>
            </a:r>
          </a:p>
        </p:txBody>
      </p:sp>
    </p:spTree>
    <p:extLst>
      <p:ext uri="{BB962C8B-B14F-4D97-AF65-F5344CB8AC3E}">
        <p14:creationId xmlns:p14="http://schemas.microsoft.com/office/powerpoint/2010/main" val="36835121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6FA1B-3ECF-3FEB-A862-6C82F91DB46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D0C331E-EB14-E74A-DDF5-D1BF1CDEA9E0}"/>
              </a:ext>
            </a:extLst>
          </p:cNvPr>
          <p:cNvSpPr>
            <a:spLocks noGrp="1"/>
          </p:cNvSpPr>
          <p:nvPr>
            <p:ph type="body" sz="quarter" idx="15"/>
          </p:nvPr>
        </p:nvSpPr>
        <p:spPr>
          <a:xfrm>
            <a:off x="416417" y="2490410"/>
            <a:ext cx="10624338" cy="814264"/>
          </a:xfrm>
        </p:spPr>
        <p:txBody>
          <a:bodyPr/>
          <a:lstStyle/>
          <a:p>
            <a:pPr marL="0" indent="0" algn="ctr">
              <a:buNone/>
            </a:pPr>
            <a:r>
              <a:rPr lang="en-US" sz="4000" dirty="0"/>
              <a:t>Thank You</a:t>
            </a:r>
            <a:endParaRPr lang="en-IN" sz="4000" dirty="0"/>
          </a:p>
        </p:txBody>
      </p:sp>
    </p:spTree>
    <p:extLst>
      <p:ext uri="{BB962C8B-B14F-4D97-AF65-F5344CB8AC3E}">
        <p14:creationId xmlns:p14="http://schemas.microsoft.com/office/powerpoint/2010/main" val="3076457511"/>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2415</TotalTime>
  <Words>2693</Words>
  <Application>Microsoft Office PowerPoint</Application>
  <PresentationFormat>Widescreen</PresentationFormat>
  <Paragraphs>252</Paragraphs>
  <Slides>35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Arial</vt:lpstr>
      <vt:lpstr>Calibri</vt:lpstr>
      <vt:lpstr>Calibri (Body)</vt:lpstr>
      <vt:lpstr>Calibri Light</vt:lpstr>
      <vt:lpstr>Frutiger 45 bold</vt:lpstr>
      <vt:lpstr>Frutiger LT Pro 45 Light</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Hetvi Bhora</cp:lastModifiedBy>
  <cp:revision>22</cp:revision>
  <dcterms:created xsi:type="dcterms:W3CDTF">2024-05-13T10:33:11Z</dcterms:created>
  <dcterms:modified xsi:type="dcterms:W3CDTF">2025-10-12T17:00:09Z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