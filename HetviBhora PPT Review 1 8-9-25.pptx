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94" r:id="rId5"/>
    <p:sldId id="2147470495" r:id="rId6"/>
    <p:sldId id="2147470496" r:id="rId7"/>
    <p:sldId id="2147470497" r:id="rId8"/>
    <p:sldId id="2147470499" r:id="rId9"/>
    <p:sldId id="2147470500" r:id="rId10"/>
    <p:sldId id="2147470502" r:id="rId11"/>
    <p:sldId id="2147470503" r:id="rId12"/>
    <p:sldId id="2147470504" r:id="rId13"/>
    <p:sldId id="2147470508" r:id="rId14"/>
    <p:sldId id="2147470509" r:id="rId15"/>
    <p:sldId id="2147470510" r:id="rId16"/>
    <p:sldId id="2147470511" r:id="rId17"/>
    <p:sldId id="2147470505" r:id="rId18"/>
    <p:sldId id="214747050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9F35C8-1422-4DA3-948B-8F652EA65F2C}" v="698" dt="2025-09-01T05:21:15.3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5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tvi Bhora" userId="06166e0c-1a4e-490f-8835-7633c5938692" providerId="ADAL" clId="{EB9F35C8-1422-4DA3-948B-8F652EA65F2C}"/>
    <pc:docChg chg="undo custSel addSld delSld modSld sldOrd">
      <pc:chgData name="Hetvi Bhora" userId="06166e0c-1a4e-490f-8835-7633c5938692" providerId="ADAL" clId="{EB9F35C8-1422-4DA3-948B-8F652EA65F2C}" dt="2025-09-01T05:31:36.869" v="1563" actId="14100"/>
      <pc:docMkLst>
        <pc:docMk/>
      </pc:docMkLst>
      <pc:sldChg chg="modSp mod">
        <pc:chgData name="Hetvi Bhora" userId="06166e0c-1a4e-490f-8835-7633c5938692" providerId="ADAL" clId="{EB9F35C8-1422-4DA3-948B-8F652EA65F2C}" dt="2025-09-01T05:19:10.546" v="1510" actId="20577"/>
        <pc:sldMkLst>
          <pc:docMk/>
          <pc:sldMk cId="3449507583" sldId="2147470489"/>
        </pc:sldMkLst>
        <pc:spChg chg="mod">
          <ac:chgData name="Hetvi Bhora" userId="06166e0c-1a4e-490f-8835-7633c5938692" providerId="ADAL" clId="{EB9F35C8-1422-4DA3-948B-8F652EA65F2C}" dt="2025-09-01T05:19:10.546" v="1510" actId="20577"/>
          <ac:spMkLst>
            <pc:docMk/>
            <pc:sldMk cId="3449507583" sldId="2147470489"/>
            <ac:spMk id="4" creationId="{598A8852-79FE-2D69-0530-D7712358063B}"/>
          </ac:spMkLst>
        </pc:spChg>
      </pc:sldChg>
      <pc:sldChg chg="ord">
        <pc:chgData name="Hetvi Bhora" userId="06166e0c-1a4e-490f-8835-7633c5938692" providerId="ADAL" clId="{EB9F35C8-1422-4DA3-948B-8F652EA65F2C}" dt="2025-08-31T10:15:56.833" v="1434"/>
        <pc:sldMkLst>
          <pc:docMk/>
          <pc:sldMk cId="1187364388" sldId="2147470491"/>
        </pc:sldMkLst>
      </pc:sldChg>
      <pc:sldChg chg="modSp mod modAnim">
        <pc:chgData name="Hetvi Bhora" userId="06166e0c-1a4e-490f-8835-7633c5938692" providerId="ADAL" clId="{EB9F35C8-1422-4DA3-948B-8F652EA65F2C}" dt="2025-08-31T08:08:29.663" v="914" actId="113"/>
        <pc:sldMkLst>
          <pc:docMk/>
          <pc:sldMk cId="2088180620" sldId="2147470492"/>
        </pc:sldMkLst>
        <pc:spChg chg="mod">
          <ac:chgData name="Hetvi Bhora" userId="06166e0c-1a4e-490f-8835-7633c5938692" providerId="ADAL" clId="{EB9F35C8-1422-4DA3-948B-8F652EA65F2C}" dt="2025-08-31T08:08:29.663" v="914" actId="113"/>
          <ac:spMkLst>
            <pc:docMk/>
            <pc:sldMk cId="2088180620" sldId="2147470492"/>
            <ac:spMk id="2" creationId="{67726612-73E0-5A94-F635-3A742DD5BA94}"/>
          </ac:spMkLst>
        </pc:spChg>
        <pc:spChg chg="mod">
          <ac:chgData name="Hetvi Bhora" userId="06166e0c-1a4e-490f-8835-7633c5938692" providerId="ADAL" clId="{EB9F35C8-1422-4DA3-948B-8F652EA65F2C}" dt="2025-08-29T06:36:13.289" v="150" actId="20577"/>
          <ac:spMkLst>
            <pc:docMk/>
            <pc:sldMk cId="2088180620" sldId="2147470492"/>
            <ac:spMk id="3" creationId="{AB4E3812-AF2F-9DD8-6ECF-C3425146B38F}"/>
          </ac:spMkLst>
        </pc:spChg>
      </pc:sldChg>
      <pc:sldChg chg="modSp mod modAnim">
        <pc:chgData name="Hetvi Bhora" userId="06166e0c-1a4e-490f-8835-7633c5938692" providerId="ADAL" clId="{EB9F35C8-1422-4DA3-948B-8F652EA65F2C}" dt="2025-08-31T08:08:25.070" v="913" actId="113"/>
        <pc:sldMkLst>
          <pc:docMk/>
          <pc:sldMk cId="1739450533" sldId="2147470493"/>
        </pc:sldMkLst>
        <pc:spChg chg="mod">
          <ac:chgData name="Hetvi Bhora" userId="06166e0c-1a4e-490f-8835-7633c5938692" providerId="ADAL" clId="{EB9F35C8-1422-4DA3-948B-8F652EA65F2C}" dt="2025-08-31T08:08:25.070" v="913" actId="113"/>
          <ac:spMkLst>
            <pc:docMk/>
            <pc:sldMk cId="1739450533" sldId="2147470493"/>
            <ac:spMk id="2" creationId="{44D551BF-43EB-C049-6D3B-4D17D5775294}"/>
          </ac:spMkLst>
        </pc:spChg>
        <pc:spChg chg="mod">
          <ac:chgData name="Hetvi Bhora" userId="06166e0c-1a4e-490f-8835-7633c5938692" providerId="ADAL" clId="{EB9F35C8-1422-4DA3-948B-8F652EA65F2C}" dt="2025-08-29T06:37:51.239" v="177" actId="20577"/>
          <ac:spMkLst>
            <pc:docMk/>
            <pc:sldMk cId="1739450533" sldId="2147470493"/>
            <ac:spMk id="3" creationId="{72FF40D3-B05A-88C3-591F-882A93FC9918}"/>
          </ac:spMkLst>
        </pc:spChg>
      </pc:sldChg>
      <pc:sldChg chg="addSp delSp modSp mod modClrScheme modAnim chgLayout">
        <pc:chgData name="Hetvi Bhora" userId="06166e0c-1a4e-490f-8835-7633c5938692" providerId="ADAL" clId="{EB9F35C8-1422-4DA3-948B-8F652EA65F2C}" dt="2025-09-01T05:23:30.131" v="1547" actId="20577"/>
        <pc:sldMkLst>
          <pc:docMk/>
          <pc:sldMk cId="2034681921" sldId="2147470494"/>
        </pc:sldMkLst>
        <pc:spChg chg="mod ord">
          <ac:chgData name="Hetvi Bhora" userId="06166e0c-1a4e-490f-8835-7633c5938692" providerId="ADAL" clId="{EB9F35C8-1422-4DA3-948B-8F652EA65F2C}" dt="2025-08-31T08:11:21.315" v="933" actId="207"/>
          <ac:spMkLst>
            <pc:docMk/>
            <pc:sldMk cId="2034681921" sldId="2147470494"/>
            <ac:spMk id="2" creationId="{D325C8EF-A5DD-AB22-0372-51B9ABE63526}"/>
          </ac:spMkLst>
        </pc:spChg>
        <pc:spChg chg="mod">
          <ac:chgData name="Hetvi Bhora" userId="06166e0c-1a4e-490f-8835-7633c5938692" providerId="ADAL" clId="{EB9F35C8-1422-4DA3-948B-8F652EA65F2C}" dt="2025-09-01T05:23:30.131" v="1547" actId="20577"/>
          <ac:spMkLst>
            <pc:docMk/>
            <pc:sldMk cId="2034681921" sldId="2147470494"/>
            <ac:spMk id="3" creationId="{CB15F4B8-EED0-F7BE-96C7-D7AAE989A251}"/>
          </ac:spMkLst>
        </pc:spChg>
      </pc:sldChg>
      <pc:sldChg chg="modSp mod modAnim">
        <pc:chgData name="Hetvi Bhora" userId="06166e0c-1a4e-490f-8835-7633c5938692" providerId="ADAL" clId="{EB9F35C8-1422-4DA3-948B-8F652EA65F2C}" dt="2025-09-01T05:20:24.161" v="1514" actId="113"/>
        <pc:sldMkLst>
          <pc:docMk/>
          <pc:sldMk cId="860765087" sldId="2147470495"/>
        </pc:sldMkLst>
        <pc:spChg chg="mod">
          <ac:chgData name="Hetvi Bhora" userId="06166e0c-1a4e-490f-8835-7633c5938692" providerId="ADAL" clId="{EB9F35C8-1422-4DA3-948B-8F652EA65F2C}" dt="2025-09-01T05:20:24.161" v="1514" actId="113"/>
          <ac:spMkLst>
            <pc:docMk/>
            <pc:sldMk cId="860765087" sldId="2147470495"/>
            <ac:spMk id="2" creationId="{DB433ECB-8EAD-0AB5-1D66-62BCF658AA2C}"/>
          </ac:spMkLst>
        </pc:spChg>
        <pc:spChg chg="mod">
          <ac:chgData name="Hetvi Bhora" userId="06166e0c-1a4e-490f-8835-7633c5938692" providerId="ADAL" clId="{EB9F35C8-1422-4DA3-948B-8F652EA65F2C}" dt="2025-08-31T08:12:25.355" v="973" actId="20577"/>
          <ac:spMkLst>
            <pc:docMk/>
            <pc:sldMk cId="860765087" sldId="2147470495"/>
            <ac:spMk id="3" creationId="{DAB3663C-4C71-EB2A-170D-22878BAC4C68}"/>
          </ac:spMkLst>
        </pc:spChg>
      </pc:sldChg>
      <pc:sldChg chg="modSp mod modAnim">
        <pc:chgData name="Hetvi Bhora" userId="06166e0c-1a4e-490f-8835-7633c5938692" providerId="ADAL" clId="{EB9F35C8-1422-4DA3-948B-8F652EA65F2C}" dt="2025-08-31T09:57:07.272" v="1024" actId="20577"/>
        <pc:sldMkLst>
          <pc:docMk/>
          <pc:sldMk cId="4084703370" sldId="2147470496"/>
        </pc:sldMkLst>
        <pc:spChg chg="mod">
          <ac:chgData name="Hetvi Bhora" userId="06166e0c-1a4e-490f-8835-7633c5938692" providerId="ADAL" clId="{EB9F35C8-1422-4DA3-948B-8F652EA65F2C}" dt="2025-08-31T09:56:51.525" v="1006" actId="113"/>
          <ac:spMkLst>
            <pc:docMk/>
            <pc:sldMk cId="4084703370" sldId="2147470496"/>
            <ac:spMk id="2" creationId="{A364AF3A-1BAA-BB19-865F-8604C4E3B859}"/>
          </ac:spMkLst>
        </pc:spChg>
        <pc:spChg chg="mod">
          <ac:chgData name="Hetvi Bhora" userId="06166e0c-1a4e-490f-8835-7633c5938692" providerId="ADAL" clId="{EB9F35C8-1422-4DA3-948B-8F652EA65F2C}" dt="2025-08-31T09:57:07.272" v="1024" actId="20577"/>
          <ac:spMkLst>
            <pc:docMk/>
            <pc:sldMk cId="4084703370" sldId="2147470496"/>
            <ac:spMk id="3" creationId="{C7C2521A-B8A4-7818-FEB4-0309182DBECF}"/>
          </ac:spMkLst>
        </pc:spChg>
      </pc:sldChg>
      <pc:sldChg chg="addSp delSp modSp mod delAnim modAnim">
        <pc:chgData name="Hetvi Bhora" userId="06166e0c-1a4e-490f-8835-7633c5938692" providerId="ADAL" clId="{EB9F35C8-1422-4DA3-948B-8F652EA65F2C}" dt="2025-09-01T05:20:39.839" v="1516" actId="14100"/>
        <pc:sldMkLst>
          <pc:docMk/>
          <pc:sldMk cId="679362563" sldId="2147470497"/>
        </pc:sldMkLst>
        <pc:spChg chg="del mod">
          <ac:chgData name="Hetvi Bhora" userId="06166e0c-1a4e-490f-8835-7633c5938692" providerId="ADAL" clId="{EB9F35C8-1422-4DA3-948B-8F652EA65F2C}" dt="2025-08-31T10:15:24.517" v="1426" actId="478"/>
          <ac:spMkLst>
            <pc:docMk/>
            <pc:sldMk cId="679362563" sldId="2147470497"/>
            <ac:spMk id="2" creationId="{30F88864-2E71-2992-AD53-E8948837272B}"/>
          </ac:spMkLst>
        </pc:spChg>
        <pc:spChg chg="mod">
          <ac:chgData name="Hetvi Bhora" userId="06166e0c-1a4e-490f-8835-7633c5938692" providerId="ADAL" clId="{EB9F35C8-1422-4DA3-948B-8F652EA65F2C}" dt="2025-08-31T10:05:34.804" v="1065" actId="20577"/>
          <ac:spMkLst>
            <pc:docMk/>
            <pc:sldMk cId="679362563" sldId="2147470497"/>
            <ac:spMk id="3" creationId="{3411E118-0427-BF72-3B78-1707B0D6E382}"/>
          </ac:spMkLst>
        </pc:spChg>
        <pc:spChg chg="add del mod">
          <ac:chgData name="Hetvi Bhora" userId="06166e0c-1a4e-490f-8835-7633c5938692" providerId="ADAL" clId="{EB9F35C8-1422-4DA3-948B-8F652EA65F2C}" dt="2025-08-31T10:14:45.898" v="1422" actId="478"/>
          <ac:spMkLst>
            <pc:docMk/>
            <pc:sldMk cId="679362563" sldId="2147470497"/>
            <ac:spMk id="7" creationId="{CD55E9FD-8583-9169-63FA-A2508E9FDEA8}"/>
          </ac:spMkLst>
        </pc:spChg>
        <pc:graphicFrameChg chg="add del mod modGraphic">
          <ac:chgData name="Hetvi Bhora" userId="06166e0c-1a4e-490f-8835-7633c5938692" providerId="ADAL" clId="{EB9F35C8-1422-4DA3-948B-8F652EA65F2C}" dt="2025-08-31T10:14:40.201" v="1421" actId="478"/>
          <ac:graphicFrameMkLst>
            <pc:docMk/>
            <pc:sldMk cId="679362563" sldId="2147470497"/>
            <ac:graphicFrameMk id="6" creationId="{5998B465-42C1-DC6C-4000-D3008913A742}"/>
          </ac:graphicFrameMkLst>
        </pc:graphicFrameChg>
        <pc:graphicFrameChg chg="add mod modGraphic">
          <ac:chgData name="Hetvi Bhora" userId="06166e0c-1a4e-490f-8835-7633c5938692" providerId="ADAL" clId="{EB9F35C8-1422-4DA3-948B-8F652EA65F2C}" dt="2025-09-01T05:20:39.839" v="1516" actId="14100"/>
          <ac:graphicFrameMkLst>
            <pc:docMk/>
            <pc:sldMk cId="679362563" sldId="2147470497"/>
            <ac:graphicFrameMk id="8" creationId="{9DA18997-EBCD-7962-E91C-418D211C7575}"/>
          </ac:graphicFrameMkLst>
        </pc:graphicFrameChg>
        <pc:picChg chg="add del mod">
          <ac:chgData name="Hetvi Bhora" userId="06166e0c-1a4e-490f-8835-7633c5938692" providerId="ADAL" clId="{EB9F35C8-1422-4DA3-948B-8F652EA65F2C}" dt="2025-08-31T10:14:49.428" v="1423" actId="478"/>
          <ac:picMkLst>
            <pc:docMk/>
            <pc:sldMk cId="679362563" sldId="2147470497"/>
            <ac:picMk id="3074" creationId="{286DF326-D927-DD61-D577-435FFEA2103D}"/>
          </ac:picMkLst>
        </pc:picChg>
      </pc:sldChg>
      <pc:sldChg chg="addSp modSp new del mod ord">
        <pc:chgData name="Hetvi Bhora" userId="06166e0c-1a4e-490f-8835-7633c5938692" providerId="ADAL" clId="{EB9F35C8-1422-4DA3-948B-8F652EA65F2C}" dt="2025-09-01T05:21:51.825" v="1524" actId="47"/>
        <pc:sldMkLst>
          <pc:docMk/>
          <pc:sldMk cId="830503417" sldId="2147470498"/>
        </pc:sldMkLst>
        <pc:spChg chg="mod">
          <ac:chgData name="Hetvi Bhora" userId="06166e0c-1a4e-490f-8835-7633c5938692" providerId="ADAL" clId="{EB9F35C8-1422-4DA3-948B-8F652EA65F2C}" dt="2025-09-01T05:21:45.859" v="1523" actId="20577"/>
          <ac:spMkLst>
            <pc:docMk/>
            <pc:sldMk cId="830503417" sldId="2147470498"/>
            <ac:spMk id="2" creationId="{73DD82D0-07BB-CD6E-D308-7C3F5ED0DA5D}"/>
          </ac:spMkLst>
        </pc:spChg>
        <pc:spChg chg="mod">
          <ac:chgData name="Hetvi Bhora" userId="06166e0c-1a4e-490f-8835-7633c5938692" providerId="ADAL" clId="{EB9F35C8-1422-4DA3-948B-8F652EA65F2C}" dt="2025-08-31T07:52:36.386" v="423" actId="20577"/>
          <ac:spMkLst>
            <pc:docMk/>
            <pc:sldMk cId="830503417" sldId="2147470498"/>
            <ac:spMk id="3" creationId="{761B3882-281C-F5AD-2F11-871E8F42B7F4}"/>
          </ac:spMkLst>
        </pc:spChg>
        <pc:spChg chg="add">
          <ac:chgData name="Hetvi Bhora" userId="06166e0c-1a4e-490f-8835-7633c5938692" providerId="ADAL" clId="{EB9F35C8-1422-4DA3-948B-8F652EA65F2C}" dt="2025-08-31T07:52:47.052" v="425"/>
          <ac:spMkLst>
            <pc:docMk/>
            <pc:sldMk cId="830503417" sldId="2147470498"/>
            <ac:spMk id="4" creationId="{20AB723C-436F-BCF2-5026-9BBF323A2B68}"/>
          </ac:spMkLst>
        </pc:spChg>
        <pc:picChg chg="add">
          <ac:chgData name="Hetvi Bhora" userId="06166e0c-1a4e-490f-8835-7633c5938692" providerId="ADAL" clId="{EB9F35C8-1422-4DA3-948B-8F652EA65F2C}" dt="2025-08-31T07:52:47.052" v="425"/>
          <ac:picMkLst>
            <pc:docMk/>
            <pc:sldMk cId="830503417" sldId="2147470498"/>
            <ac:picMk id="1028" creationId="{48345C0C-B89B-D64A-74CA-4A9AEF0EFCBF}"/>
          </ac:picMkLst>
        </pc:picChg>
        <pc:picChg chg="add">
          <ac:chgData name="Hetvi Bhora" userId="06166e0c-1a4e-490f-8835-7633c5938692" providerId="ADAL" clId="{EB9F35C8-1422-4DA3-948B-8F652EA65F2C}" dt="2025-08-31T07:52:47.052" v="425"/>
          <ac:picMkLst>
            <pc:docMk/>
            <pc:sldMk cId="830503417" sldId="2147470498"/>
            <ac:picMk id="1029" creationId="{C8317780-1267-822C-E5A4-447BB8C20CD6}"/>
          </ac:picMkLst>
        </pc:picChg>
        <pc:picChg chg="add">
          <ac:chgData name="Hetvi Bhora" userId="06166e0c-1a4e-490f-8835-7633c5938692" providerId="ADAL" clId="{EB9F35C8-1422-4DA3-948B-8F652EA65F2C}" dt="2025-08-31T07:52:47.052" v="425"/>
          <ac:picMkLst>
            <pc:docMk/>
            <pc:sldMk cId="830503417" sldId="2147470498"/>
            <ac:picMk id="1030" creationId="{9AD35DFC-C0C2-94BD-8EC1-80C3379DB860}"/>
          </ac:picMkLst>
        </pc:picChg>
        <pc:picChg chg="add">
          <ac:chgData name="Hetvi Bhora" userId="06166e0c-1a4e-490f-8835-7633c5938692" providerId="ADAL" clId="{EB9F35C8-1422-4DA3-948B-8F652EA65F2C}" dt="2025-08-31T07:52:47.052" v="425"/>
          <ac:picMkLst>
            <pc:docMk/>
            <pc:sldMk cId="830503417" sldId="2147470498"/>
            <ac:picMk id="1033" creationId="{862226A6-A470-405C-B689-2EED94C5E304}"/>
          </ac:picMkLst>
        </pc:picChg>
        <pc:picChg chg="add">
          <ac:chgData name="Hetvi Bhora" userId="06166e0c-1a4e-490f-8835-7633c5938692" providerId="ADAL" clId="{EB9F35C8-1422-4DA3-948B-8F652EA65F2C}" dt="2025-08-31T07:52:47.052" v="425"/>
          <ac:picMkLst>
            <pc:docMk/>
            <pc:sldMk cId="830503417" sldId="2147470498"/>
            <ac:picMk id="1034" creationId="{03E4326C-6592-ABDE-1411-9C4ACA379D0A}"/>
          </ac:picMkLst>
        </pc:picChg>
        <pc:picChg chg="add">
          <ac:chgData name="Hetvi Bhora" userId="06166e0c-1a4e-490f-8835-7633c5938692" providerId="ADAL" clId="{EB9F35C8-1422-4DA3-948B-8F652EA65F2C}" dt="2025-08-31T07:52:47.052" v="425"/>
          <ac:picMkLst>
            <pc:docMk/>
            <pc:sldMk cId="830503417" sldId="2147470498"/>
            <ac:picMk id="1035" creationId="{7FB8533D-BA42-D1A9-A8CD-5DAEAD5ED576}"/>
          </ac:picMkLst>
        </pc:picChg>
        <pc:picChg chg="add">
          <ac:chgData name="Hetvi Bhora" userId="06166e0c-1a4e-490f-8835-7633c5938692" providerId="ADAL" clId="{EB9F35C8-1422-4DA3-948B-8F652EA65F2C}" dt="2025-08-31T07:52:47.052" v="425"/>
          <ac:picMkLst>
            <pc:docMk/>
            <pc:sldMk cId="830503417" sldId="2147470498"/>
            <ac:picMk id="1036" creationId="{9C6B9E55-E0F9-9F54-FFB5-15D42718A064}"/>
          </ac:picMkLst>
        </pc:picChg>
        <pc:picChg chg="add">
          <ac:chgData name="Hetvi Bhora" userId="06166e0c-1a4e-490f-8835-7633c5938692" providerId="ADAL" clId="{EB9F35C8-1422-4DA3-948B-8F652EA65F2C}" dt="2025-08-31T07:52:47.052" v="425"/>
          <ac:picMkLst>
            <pc:docMk/>
            <pc:sldMk cId="830503417" sldId="2147470498"/>
            <ac:picMk id="1037" creationId="{7C87EFD4-619B-B9B7-5CE5-323E0871E53B}"/>
          </ac:picMkLst>
        </pc:picChg>
        <pc:picChg chg="add">
          <ac:chgData name="Hetvi Bhora" userId="06166e0c-1a4e-490f-8835-7633c5938692" providerId="ADAL" clId="{EB9F35C8-1422-4DA3-948B-8F652EA65F2C}" dt="2025-08-31T07:52:47.052" v="425"/>
          <ac:picMkLst>
            <pc:docMk/>
            <pc:sldMk cId="830503417" sldId="2147470498"/>
            <ac:picMk id="1038" creationId="{F2CDB58F-39FC-E352-D501-F251CA1EA6C7}"/>
          </ac:picMkLst>
        </pc:picChg>
      </pc:sldChg>
      <pc:sldChg chg="addSp delSp modSp new mod ord modClrScheme chgLayout">
        <pc:chgData name="Hetvi Bhora" userId="06166e0c-1a4e-490f-8835-7633c5938692" providerId="ADAL" clId="{EB9F35C8-1422-4DA3-948B-8F652EA65F2C}" dt="2025-09-01T04:40:03.691" v="1509" actId="14100"/>
        <pc:sldMkLst>
          <pc:docMk/>
          <pc:sldMk cId="2617949779" sldId="2147470499"/>
        </pc:sldMkLst>
        <pc:spChg chg="del">
          <ac:chgData name="Hetvi Bhora" userId="06166e0c-1a4e-490f-8835-7633c5938692" providerId="ADAL" clId="{EB9F35C8-1422-4DA3-948B-8F652EA65F2C}" dt="2025-08-31T07:56:29.434" v="471" actId="478"/>
          <ac:spMkLst>
            <pc:docMk/>
            <pc:sldMk cId="2617949779" sldId="2147470499"/>
            <ac:spMk id="2" creationId="{D0FD7C80-B50A-4845-F0A4-5F8CF1021EB9}"/>
          </ac:spMkLst>
        </pc:spChg>
        <pc:spChg chg="mod ord">
          <ac:chgData name="Hetvi Bhora" userId="06166e0c-1a4e-490f-8835-7633c5938692" providerId="ADAL" clId="{EB9F35C8-1422-4DA3-948B-8F652EA65F2C}" dt="2025-09-01T04:40:03.691" v="1509" actId="14100"/>
          <ac:spMkLst>
            <pc:docMk/>
            <pc:sldMk cId="2617949779" sldId="2147470499"/>
            <ac:spMk id="3" creationId="{DF0A9E7B-5623-AF94-F3EE-782A111D63FD}"/>
          </ac:spMkLst>
        </pc:spChg>
        <pc:spChg chg="add del mod ord">
          <ac:chgData name="Hetvi Bhora" userId="06166e0c-1a4e-490f-8835-7633c5938692" providerId="ADAL" clId="{EB9F35C8-1422-4DA3-948B-8F652EA65F2C}" dt="2025-08-31T10:02:28.114" v="1038" actId="700"/>
          <ac:spMkLst>
            <pc:docMk/>
            <pc:sldMk cId="2617949779" sldId="2147470499"/>
            <ac:spMk id="8" creationId="{293FE4EC-5311-6530-B437-6A2345C5F8F6}"/>
          </ac:spMkLst>
        </pc:spChg>
        <pc:spChg chg="add del mod">
          <ac:chgData name="Hetvi Bhora" userId="06166e0c-1a4e-490f-8835-7633c5938692" providerId="ADAL" clId="{EB9F35C8-1422-4DA3-948B-8F652EA65F2C}" dt="2025-08-31T10:03:53.002" v="1049" actId="478"/>
          <ac:spMkLst>
            <pc:docMk/>
            <pc:sldMk cId="2617949779" sldId="2147470499"/>
            <ac:spMk id="9" creationId="{DC1ABC73-A246-C02A-69D8-B45F7BB1950C}"/>
          </ac:spMkLst>
        </pc:spChg>
        <pc:picChg chg="add mod">
          <ac:chgData name="Hetvi Bhora" userId="06166e0c-1a4e-490f-8835-7633c5938692" providerId="ADAL" clId="{EB9F35C8-1422-4DA3-948B-8F652EA65F2C}" dt="2025-09-01T04:39:42.479" v="1508" actId="1076"/>
          <ac:picMkLst>
            <pc:docMk/>
            <pc:sldMk cId="2617949779" sldId="2147470499"/>
            <ac:picMk id="4" creationId="{509CE173-C101-E69A-7EA8-0A075F3BC640}"/>
          </ac:picMkLst>
        </pc:picChg>
        <pc:picChg chg="add del mod">
          <ac:chgData name="Hetvi Bhora" userId="06166e0c-1a4e-490f-8835-7633c5938692" providerId="ADAL" clId="{EB9F35C8-1422-4DA3-948B-8F652EA65F2C}" dt="2025-08-31T10:00:20.686" v="1027" actId="478"/>
          <ac:picMkLst>
            <pc:docMk/>
            <pc:sldMk cId="2617949779" sldId="2147470499"/>
            <ac:picMk id="5" creationId="{97B74759-DF73-29D8-6B30-F417A427CE2F}"/>
          </ac:picMkLst>
        </pc:picChg>
        <pc:picChg chg="add del mod">
          <ac:chgData name="Hetvi Bhora" userId="06166e0c-1a4e-490f-8835-7633c5938692" providerId="ADAL" clId="{EB9F35C8-1422-4DA3-948B-8F652EA65F2C}" dt="2025-09-01T04:39:11.015" v="1501" actId="478"/>
          <ac:picMkLst>
            <pc:docMk/>
            <pc:sldMk cId="2617949779" sldId="2147470499"/>
            <ac:picMk id="7" creationId="{BD7C78EA-3B09-9A67-7D50-63C1045D7977}"/>
          </ac:picMkLst>
        </pc:picChg>
        <pc:cxnChg chg="add mod">
          <ac:chgData name="Hetvi Bhora" userId="06166e0c-1a4e-490f-8835-7633c5938692" providerId="ADAL" clId="{EB9F35C8-1422-4DA3-948B-8F652EA65F2C}" dt="2025-08-31T10:03:57.998" v="1050" actId="1076"/>
          <ac:cxnSpMkLst>
            <pc:docMk/>
            <pc:sldMk cId="2617949779" sldId="2147470499"/>
            <ac:cxnSpMk id="10" creationId="{D18C0CFE-CB7E-84CF-B2CB-A68F7A6AEA26}"/>
          </ac:cxnSpMkLst>
        </pc:cxnChg>
      </pc:sldChg>
      <pc:sldChg chg="addSp delSp modSp new mod ord">
        <pc:chgData name="Hetvi Bhora" userId="06166e0c-1a4e-490f-8835-7633c5938692" providerId="ADAL" clId="{EB9F35C8-1422-4DA3-948B-8F652EA65F2C}" dt="2025-09-01T03:59:14.416" v="1463" actId="478"/>
        <pc:sldMkLst>
          <pc:docMk/>
          <pc:sldMk cId="500310746" sldId="2147470500"/>
        </pc:sldMkLst>
        <pc:spChg chg="del mod">
          <ac:chgData name="Hetvi Bhora" userId="06166e0c-1a4e-490f-8835-7633c5938692" providerId="ADAL" clId="{EB9F35C8-1422-4DA3-948B-8F652EA65F2C}" dt="2025-08-31T10:17:02.838" v="1436" actId="478"/>
          <ac:spMkLst>
            <pc:docMk/>
            <pc:sldMk cId="500310746" sldId="2147470500"/>
            <ac:spMk id="2" creationId="{15B87C94-BB0A-A17A-7065-05836A29DF55}"/>
          </ac:spMkLst>
        </pc:spChg>
        <pc:spChg chg="add del mod">
          <ac:chgData name="Hetvi Bhora" userId="06166e0c-1a4e-490f-8835-7633c5938692" providerId="ADAL" clId="{EB9F35C8-1422-4DA3-948B-8F652EA65F2C}" dt="2025-08-31T10:17:48.546" v="1455" actId="20577"/>
          <ac:spMkLst>
            <pc:docMk/>
            <pc:sldMk cId="500310746" sldId="2147470500"/>
            <ac:spMk id="3" creationId="{18B98F70-4E00-7B3B-8ED9-7C08CF3D2B7D}"/>
          </ac:spMkLst>
        </pc:spChg>
        <pc:spChg chg="add del mod">
          <ac:chgData name="Hetvi Bhora" userId="06166e0c-1a4e-490f-8835-7633c5938692" providerId="ADAL" clId="{EB9F35C8-1422-4DA3-948B-8F652EA65F2C}" dt="2025-09-01T03:59:14.416" v="1463" actId="478"/>
          <ac:spMkLst>
            <pc:docMk/>
            <pc:sldMk cId="500310746" sldId="2147470500"/>
            <ac:spMk id="4" creationId="{8921AFDF-C38E-F906-F349-183643AAFFCE}"/>
          </ac:spMkLst>
        </pc:spChg>
        <pc:spChg chg="add del mod">
          <ac:chgData name="Hetvi Bhora" userId="06166e0c-1a4e-490f-8835-7633c5938692" providerId="ADAL" clId="{EB9F35C8-1422-4DA3-948B-8F652EA65F2C}" dt="2025-08-31T07:59:59.713" v="586" actId="478"/>
          <ac:spMkLst>
            <pc:docMk/>
            <pc:sldMk cId="500310746" sldId="2147470500"/>
            <ac:spMk id="6" creationId="{EE867602-BE5A-A779-63B2-F5780007B916}"/>
          </ac:spMkLst>
        </pc:spChg>
        <pc:graphicFrameChg chg="add del mod">
          <ac:chgData name="Hetvi Bhora" userId="06166e0c-1a4e-490f-8835-7633c5938692" providerId="ADAL" clId="{EB9F35C8-1422-4DA3-948B-8F652EA65F2C}" dt="2025-08-31T08:00:03.494" v="587" actId="478"/>
          <ac:graphicFrameMkLst>
            <pc:docMk/>
            <pc:sldMk cId="500310746" sldId="2147470500"/>
            <ac:graphicFrameMk id="5" creationId="{0FF51C2A-80D5-5655-5C7C-28999C1BDAC9}"/>
          </ac:graphicFrameMkLst>
        </pc:graphicFrameChg>
        <pc:picChg chg="add mod">
          <ac:chgData name="Hetvi Bhora" userId="06166e0c-1a4e-490f-8835-7633c5938692" providerId="ADAL" clId="{EB9F35C8-1422-4DA3-948B-8F652EA65F2C}" dt="2025-08-31T10:17:55.587" v="1456" actId="14100"/>
          <ac:picMkLst>
            <pc:docMk/>
            <pc:sldMk cId="500310746" sldId="2147470500"/>
            <ac:picMk id="8" creationId="{A35DBC39-5863-CFF5-F0AB-D971C47E7DCB}"/>
          </ac:picMkLst>
        </pc:picChg>
        <pc:picChg chg="add mod">
          <ac:chgData name="Hetvi Bhora" userId="06166e0c-1a4e-490f-8835-7633c5938692" providerId="ADAL" clId="{EB9F35C8-1422-4DA3-948B-8F652EA65F2C}" dt="2025-08-31T07:59:42.796" v="583"/>
          <ac:picMkLst>
            <pc:docMk/>
            <pc:sldMk cId="500310746" sldId="2147470500"/>
            <ac:picMk id="2051" creationId="{AD7A3D14-50F0-CB33-12CB-30F9AF3B6A72}"/>
          </ac:picMkLst>
        </pc:picChg>
        <pc:picChg chg="add mod">
          <ac:chgData name="Hetvi Bhora" userId="06166e0c-1a4e-490f-8835-7633c5938692" providerId="ADAL" clId="{EB9F35C8-1422-4DA3-948B-8F652EA65F2C}" dt="2025-08-31T07:59:42.796" v="583"/>
          <ac:picMkLst>
            <pc:docMk/>
            <pc:sldMk cId="500310746" sldId="2147470500"/>
            <ac:picMk id="2052" creationId="{419AB5BF-E067-C595-8CEC-FE552C21B71E}"/>
          </ac:picMkLst>
        </pc:picChg>
      </pc:sldChg>
      <pc:sldChg chg="delSp modSp new mod">
        <pc:chgData name="Hetvi Bhora" userId="06166e0c-1a4e-490f-8835-7633c5938692" providerId="ADAL" clId="{EB9F35C8-1422-4DA3-948B-8F652EA65F2C}" dt="2025-09-01T05:31:36.869" v="1563" actId="14100"/>
        <pc:sldMkLst>
          <pc:docMk/>
          <pc:sldMk cId="2023526428" sldId="2147470501"/>
        </pc:sldMkLst>
        <pc:spChg chg="del">
          <ac:chgData name="Hetvi Bhora" userId="06166e0c-1a4e-490f-8835-7633c5938692" providerId="ADAL" clId="{EB9F35C8-1422-4DA3-948B-8F652EA65F2C}" dt="2025-09-01T05:31:08.496" v="1560" actId="478"/>
          <ac:spMkLst>
            <pc:docMk/>
            <pc:sldMk cId="2023526428" sldId="2147470501"/>
            <ac:spMk id="2" creationId="{2EB76BC0-597D-C98A-683C-2D173211704B}"/>
          </ac:spMkLst>
        </pc:spChg>
        <pc:spChg chg="mod">
          <ac:chgData name="Hetvi Bhora" userId="06166e0c-1a4e-490f-8835-7633c5938692" providerId="ADAL" clId="{EB9F35C8-1422-4DA3-948B-8F652EA65F2C}" dt="2025-09-01T05:31:36.869" v="1563" actId="14100"/>
          <ac:spMkLst>
            <pc:docMk/>
            <pc:sldMk cId="2023526428" sldId="2147470501"/>
            <ac:spMk id="3" creationId="{FBECB155-EFDE-CA4D-A9BA-FE84355F690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gif"/><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38779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AI-Powered Flight Delay Predictor &amp; Analyzer</a:t>
            </a: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Hetvi Bhora</a:t>
            </a:r>
          </a:p>
          <a:p>
            <a:pPr lvl="0" algn="ctr">
              <a:defRPr/>
            </a:pPr>
            <a:r>
              <a:rPr lang="en-US" sz="2400" b="1" dirty="0">
                <a:solidFill>
                  <a:prstClr val="white"/>
                </a:solidFill>
                <a:cs typeface="Calibri" panose="020F0502020204030204" pitchFamily="34" charset="0"/>
              </a:rPr>
              <a:t>TID : T8576</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10624338" cy="4142989"/>
          </a:xfrm>
        </p:spPr>
        <p:txBody>
          <a:bodyPr/>
          <a:lstStyle/>
          <a:p>
            <a:r>
              <a:rPr lang="en-US" b="0" dirty="0"/>
              <a:t>Flight delays are a major operational and customer satisfaction issue in the aviation industry.</a:t>
            </a:r>
          </a:p>
          <a:p>
            <a:r>
              <a:rPr lang="en-US" b="0" dirty="0"/>
              <a:t>This project aims to predict average flight delays for specific carriers, airports, and months.</a:t>
            </a:r>
          </a:p>
          <a:p>
            <a:r>
              <a:rPr lang="en-US" b="0" dirty="0"/>
              <a:t>It uses a combination of forecasting algorithms and machine learning models to analyze historical and operational data.</a:t>
            </a:r>
          </a:p>
          <a:p>
            <a:r>
              <a:rPr lang="en-US" b="0" dirty="0"/>
              <a:t>A Large Language Model (LLM) is integrated to generate natural language explanations of the predictions.</a:t>
            </a:r>
          </a:p>
          <a:p>
            <a:r>
              <a:rPr lang="en-US" b="0" dirty="0"/>
              <a:t>Designed to support airlines, airports, and travel platforms in making data-driven decisions.</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578035"/>
          </a:xfrm>
        </p:spPr>
        <p:txBody>
          <a:bodyPr/>
          <a:lstStyle/>
          <a:p>
            <a:r>
              <a:rPr lang="en-US" b="0" dirty="0">
                <a:latin typeface="+mn-lt"/>
              </a:rPr>
              <a:t>Data Collection using APIs, Scraping etc.. </a:t>
            </a:r>
          </a:p>
          <a:p>
            <a:r>
              <a:rPr lang="en-US" b="0" dirty="0">
                <a:latin typeface="+mn-lt"/>
              </a:rPr>
              <a:t>Predict average flight delay for a given carrier, airport, and month.</a:t>
            </a:r>
          </a:p>
          <a:p>
            <a:r>
              <a:rPr lang="en-US" b="0" dirty="0">
                <a:latin typeface="+mn-lt"/>
              </a:rPr>
              <a:t>Break down delay causes into categories: Carrier, Weather, NAS (National Airspace System), and Late Aircraft.</a:t>
            </a:r>
          </a:p>
          <a:p>
            <a:r>
              <a:rPr lang="en-US" b="0" dirty="0">
                <a:latin typeface="+mn-lt"/>
              </a:rPr>
              <a:t>Generate human-readable explanations using LLMs to support decision-making.</a:t>
            </a:r>
          </a:p>
          <a:p>
            <a:r>
              <a:rPr lang="en-US" b="0" dirty="0">
                <a:latin typeface="+mn-lt"/>
              </a:rPr>
              <a:t>Provide an interactive UI for users to input parameters and view predictions.</a:t>
            </a:r>
          </a:p>
          <a:p>
            <a:r>
              <a:rPr lang="en-US" b="0" dirty="0">
                <a:latin typeface="+mn-lt"/>
              </a:rPr>
              <a:t>Enable future scalability to real-time predictions and broader airport coverage.</a:t>
            </a:r>
          </a:p>
          <a:p>
            <a:endParaRPr lang="en-IN" b="0" dirty="0">
              <a:latin typeface="+mn-lt"/>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r>
              <a:rPr lang="en-US" sz="3600" b="1" dirty="0">
                <a:solidFill>
                  <a:srgbClr val="5B9BD5">
                    <a:lumMod val="50000"/>
                  </a:srgbClr>
                </a:solidFill>
                <a:latin typeface="Calibri" panose="020F0502020204030204"/>
              </a:rPr>
              <a:t>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271219"/>
            <a:ext cx="10624338" cy="4810266"/>
          </a:xfrm>
        </p:spPr>
        <p:txBody>
          <a:bodyPr/>
          <a:lstStyle/>
          <a:p>
            <a:pPr marL="457200" indent="-457200">
              <a:lnSpc>
                <a:spcPct val="100000"/>
              </a:lnSpc>
              <a:buAutoNum type="arabicPeriod"/>
            </a:pPr>
            <a:r>
              <a:rPr lang="en-US" b="0" dirty="0">
                <a:latin typeface="+mn-lt"/>
              </a:rPr>
              <a:t>Project Setup &amp; Data Collection</a:t>
            </a:r>
          </a:p>
          <a:p>
            <a:pPr marL="457200" indent="-457200">
              <a:lnSpc>
                <a:spcPct val="100000"/>
              </a:lnSpc>
              <a:buAutoNum type="arabicPeriod"/>
            </a:pPr>
            <a:r>
              <a:rPr lang="en-US" b="0" dirty="0">
                <a:latin typeface="+mn-lt"/>
              </a:rPr>
              <a:t>Data Cleaning &amp; preprocessing</a:t>
            </a:r>
          </a:p>
          <a:p>
            <a:pPr marL="457200" indent="-457200">
              <a:lnSpc>
                <a:spcPct val="100000"/>
              </a:lnSpc>
              <a:buAutoNum type="arabicPeriod"/>
            </a:pPr>
            <a:r>
              <a:rPr lang="en-US" b="0" dirty="0">
                <a:latin typeface="+mn-lt"/>
              </a:rPr>
              <a:t>Exploratory Data Analysis</a:t>
            </a:r>
          </a:p>
          <a:p>
            <a:pPr marL="457200" indent="-457200">
              <a:lnSpc>
                <a:spcPct val="100000"/>
              </a:lnSpc>
              <a:buAutoNum type="arabicPeriod"/>
            </a:pPr>
            <a:r>
              <a:rPr lang="en-US" b="0" dirty="0">
                <a:latin typeface="+mn-lt"/>
              </a:rPr>
              <a:t>Forecasting Model Development </a:t>
            </a:r>
          </a:p>
          <a:p>
            <a:pPr marL="457200" indent="-457200">
              <a:lnSpc>
                <a:spcPct val="100000"/>
              </a:lnSpc>
              <a:buAutoNum type="arabicPeriod"/>
            </a:pPr>
            <a:r>
              <a:rPr lang="en-US" b="0" dirty="0">
                <a:latin typeface="+mn-lt"/>
              </a:rPr>
              <a:t>Delay Attribution Model</a:t>
            </a:r>
          </a:p>
          <a:p>
            <a:pPr marL="457200" indent="-457200">
              <a:lnSpc>
                <a:spcPct val="100000"/>
              </a:lnSpc>
              <a:buAutoNum type="arabicPeriod"/>
            </a:pPr>
            <a:r>
              <a:rPr lang="en-US" b="0" dirty="0">
                <a:latin typeface="+mn-lt"/>
              </a:rPr>
              <a:t>LLM Integration &amp; Explanation Generation </a:t>
            </a:r>
          </a:p>
          <a:p>
            <a:pPr marL="457200" indent="-457200">
              <a:lnSpc>
                <a:spcPct val="100000"/>
              </a:lnSpc>
              <a:buAutoNum type="arabicPeriod"/>
            </a:pPr>
            <a:r>
              <a:rPr lang="en-US" b="0" dirty="0">
                <a:latin typeface="+mn-lt"/>
              </a:rPr>
              <a:t>Evaluation &amp; refinement </a:t>
            </a:r>
          </a:p>
          <a:p>
            <a:pPr marL="457200" indent="-457200">
              <a:lnSpc>
                <a:spcPct val="100000"/>
              </a:lnSpc>
              <a:buAutoNum type="arabicPeriod"/>
            </a:pPr>
            <a:r>
              <a:rPr lang="en-US" b="0" dirty="0">
                <a:latin typeface="+mn-lt"/>
              </a:rPr>
              <a:t>User Interface </a:t>
            </a:r>
          </a:p>
          <a:p>
            <a:pPr marL="457200" indent="-457200">
              <a:lnSpc>
                <a:spcPct val="100000"/>
              </a:lnSpc>
              <a:buAutoNum type="arabicPeriod"/>
            </a:pPr>
            <a:r>
              <a:rPr lang="en-US" b="0" dirty="0">
                <a:latin typeface="+mn-lt"/>
              </a:rPr>
              <a:t>Deployment</a:t>
            </a:r>
          </a:p>
          <a:p>
            <a:pPr marL="457200" indent="-457200">
              <a:lnSpc>
                <a:spcPct val="100000"/>
              </a:lnSpc>
              <a:buAutoNum type="arabicPeriod"/>
            </a:pPr>
            <a:endParaRPr lang="en-US" b="0" dirty="0">
              <a:latin typeface="+mn-lt"/>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Scope ( Project flow )</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9C03-8E92-54D7-6EE2-33DC2B5C67B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433ECB-8EAD-0AB5-1D66-62BCF658AA2C}"/>
              </a:ext>
            </a:extLst>
          </p:cNvPr>
          <p:cNvSpPr>
            <a:spLocks noGrp="1"/>
          </p:cNvSpPr>
          <p:nvPr>
            <p:ph type="body" sz="quarter" idx="13"/>
          </p:nvPr>
        </p:nvSpPr>
        <p:spPr>
          <a:xfrm>
            <a:off x="255996" y="1271219"/>
            <a:ext cx="10624338" cy="4395020"/>
          </a:xfrm>
        </p:spPr>
        <p:txBody>
          <a:bodyPr/>
          <a:lstStyle/>
          <a:p>
            <a:pPr marL="0" indent="0">
              <a:buNone/>
            </a:pPr>
            <a:r>
              <a:rPr lang="en-US" sz="2400" dirty="0">
                <a:latin typeface="+mn-lt"/>
              </a:rPr>
              <a:t>Paper 1:</a:t>
            </a:r>
            <a:r>
              <a:rPr lang="en-US" sz="2400" b="0" dirty="0">
                <a:latin typeface="+mn-lt"/>
              </a:rPr>
              <a:t> Integrating multiple data sources for improved flight delay prediction using explainable machine learning ( ScienceDirect ) </a:t>
            </a:r>
          </a:p>
          <a:p>
            <a:pPr marL="0" indent="0">
              <a:buNone/>
            </a:pPr>
            <a:r>
              <a:rPr lang="en-IN" sz="2400" b="0" dirty="0">
                <a:latin typeface="+mn-lt"/>
              </a:rPr>
              <a:t>Abstract- </a:t>
            </a:r>
            <a:r>
              <a:rPr lang="en-US" sz="2400" b="0" dirty="0">
                <a:latin typeface="+mn-lt"/>
              </a:rPr>
              <a:t>The paper proposes a methodology that integrates multiple data sources to improve flight delay prediction using </a:t>
            </a:r>
            <a:r>
              <a:rPr lang="en-US" sz="2400" dirty="0">
                <a:latin typeface="+mn-lt"/>
              </a:rPr>
              <a:t>explainable artificial intelligence </a:t>
            </a:r>
            <a:r>
              <a:rPr lang="en-US" sz="2400" b="0" dirty="0">
                <a:latin typeface="+mn-lt"/>
              </a:rPr>
              <a:t>(</a:t>
            </a:r>
            <a:r>
              <a:rPr lang="en-US" sz="2400" b="0" dirty="0" err="1">
                <a:latin typeface="+mn-lt"/>
              </a:rPr>
              <a:t>xAI</a:t>
            </a:r>
            <a:r>
              <a:rPr lang="en-US" sz="2400" b="0" dirty="0">
                <a:latin typeface="+mn-lt"/>
              </a:rPr>
              <a:t>). It focuses on identifying key features that influence delays and making the prediction process transparent and interpretable.</a:t>
            </a:r>
            <a:endParaRPr lang="en-IN" sz="2400" b="0" dirty="0">
              <a:latin typeface="+mn-lt"/>
            </a:endParaRPr>
          </a:p>
          <a:p>
            <a:pPr marL="0" indent="0">
              <a:buNone/>
            </a:pPr>
            <a:r>
              <a:rPr lang="en-IN" sz="2400" dirty="0">
                <a:latin typeface="+mn-lt"/>
              </a:rPr>
              <a:t>Paper 2:</a:t>
            </a:r>
            <a:r>
              <a:rPr lang="en-IN" sz="2400" b="0" dirty="0">
                <a:latin typeface="+mn-lt"/>
              </a:rPr>
              <a:t>  </a:t>
            </a:r>
            <a:r>
              <a:rPr lang="en-US" sz="2400" b="0" dirty="0">
                <a:latin typeface="+mn-lt"/>
              </a:rPr>
              <a:t>Dynamically forecasting airline departure delay probability distributions for individual flights using supervised learning </a:t>
            </a:r>
            <a:r>
              <a:rPr lang="en-US" sz="2400" b="0" dirty="0"/>
              <a:t>( ScienceDirect ) </a:t>
            </a:r>
            <a:endParaRPr lang="en-US" sz="2400" b="0" dirty="0">
              <a:latin typeface="+mn-lt"/>
            </a:endParaRPr>
          </a:p>
          <a:p>
            <a:pPr marL="0" indent="0">
              <a:buNone/>
            </a:pPr>
            <a:r>
              <a:rPr lang="en-IN" sz="2400" b="0" dirty="0">
                <a:latin typeface="+mn-lt"/>
              </a:rPr>
              <a:t>Abstract- </a:t>
            </a:r>
            <a:r>
              <a:rPr lang="en-US" sz="2400" b="0" dirty="0">
                <a:latin typeface="+mn-lt"/>
              </a:rPr>
              <a:t>The paper introduces a dynamic and probabilistic approach to forecasting departure delays for individual flights, using </a:t>
            </a:r>
            <a:r>
              <a:rPr lang="en-US" sz="2400" dirty="0">
                <a:latin typeface="+mn-lt"/>
              </a:rPr>
              <a:t>supervised learning</a:t>
            </a:r>
            <a:r>
              <a:rPr lang="en-US" sz="2400" b="0" dirty="0">
                <a:latin typeface="+mn-lt"/>
              </a:rPr>
              <a:t>. The goal is to improve operational efficiency, especially in hub-and-spoke airlines, by enabling better fuel planning and delay management.</a:t>
            </a:r>
            <a:endParaRPr lang="en-IN" sz="2400" b="0" dirty="0">
              <a:latin typeface="+mn-lt"/>
            </a:endParaRPr>
          </a:p>
          <a:p>
            <a:pPr marL="0" indent="0">
              <a:lnSpc>
                <a:spcPct val="150000"/>
              </a:lnSpc>
              <a:buNone/>
            </a:pPr>
            <a:endParaRPr lang="en-US" sz="2400" b="0" dirty="0">
              <a:latin typeface="+mn-lt"/>
            </a:endParaRPr>
          </a:p>
        </p:txBody>
      </p:sp>
      <p:sp>
        <p:nvSpPr>
          <p:cNvPr id="3" name="TextBox 2">
            <a:extLst>
              <a:ext uri="{FF2B5EF4-FFF2-40B4-BE49-F238E27FC236}">
                <a16:creationId xmlns:a16="http://schemas.microsoft.com/office/drawing/2014/main" id="{DAB3663C-4C71-EB2A-170D-22878BAC4C6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Literature Review</a:t>
            </a:r>
          </a:p>
        </p:txBody>
      </p:sp>
      <p:cxnSp>
        <p:nvCxnSpPr>
          <p:cNvPr id="5" name="Straight Connector 4">
            <a:extLst>
              <a:ext uri="{FF2B5EF4-FFF2-40B4-BE49-F238E27FC236}">
                <a16:creationId xmlns:a16="http://schemas.microsoft.com/office/drawing/2014/main" id="{B91B76A7-3EE1-470C-EBA7-8F98E8FFE10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84F4041-8131-3536-FDDF-513CA3ABA63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860765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3C69-472F-A80F-ECBC-553E043DB9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64AF3A-1BAA-BB19-865F-8604C4E3B859}"/>
              </a:ext>
            </a:extLst>
          </p:cNvPr>
          <p:cNvSpPr>
            <a:spLocks noGrp="1"/>
          </p:cNvSpPr>
          <p:nvPr>
            <p:ph type="body" sz="quarter" idx="13"/>
          </p:nvPr>
        </p:nvSpPr>
        <p:spPr>
          <a:xfrm>
            <a:off x="255996" y="1271219"/>
            <a:ext cx="10624338" cy="4142989"/>
          </a:xfrm>
        </p:spPr>
        <p:txBody>
          <a:bodyPr/>
          <a:lstStyle/>
          <a:p>
            <a:r>
              <a:rPr lang="en-IN" b="0" dirty="0">
                <a:latin typeface="+mn-lt"/>
              </a:rPr>
              <a:t>FlightAware – Real-time flight tracking and predictive analytics</a:t>
            </a:r>
          </a:p>
          <a:p>
            <a:r>
              <a:rPr lang="en-IN" b="0" dirty="0">
                <a:latin typeface="+mn-lt"/>
              </a:rPr>
              <a:t>Airbus Skywise – Aviation data platform with predictive maintenance and delay analytics</a:t>
            </a:r>
          </a:p>
          <a:p>
            <a:r>
              <a:rPr lang="en-IN" b="0" dirty="0">
                <a:latin typeface="+mn-lt"/>
              </a:rPr>
              <a:t>GE Aviation – Fuel and delay optimization tools</a:t>
            </a:r>
          </a:p>
          <a:p>
            <a:r>
              <a:rPr lang="en-IN" b="0" dirty="0" err="1">
                <a:latin typeface="+mn-lt"/>
              </a:rPr>
              <a:t>Cirium</a:t>
            </a:r>
            <a:r>
              <a:rPr lang="en-IN" b="0" dirty="0">
                <a:latin typeface="+mn-lt"/>
              </a:rPr>
              <a:t> – Flight delay prediction and analytics</a:t>
            </a:r>
          </a:p>
          <a:p>
            <a:r>
              <a:rPr lang="en-IN" b="0" dirty="0">
                <a:latin typeface="+mn-lt"/>
              </a:rPr>
              <a:t>Lumo – Predictive flight delay alerts for </a:t>
            </a:r>
            <a:r>
              <a:rPr lang="en-IN" b="0" dirty="0" err="1">
                <a:latin typeface="+mn-lt"/>
              </a:rPr>
              <a:t>travelers</a:t>
            </a:r>
            <a:r>
              <a:rPr lang="en-IN" b="0" dirty="0">
                <a:latin typeface="+mn-lt"/>
              </a:rPr>
              <a:t> and airlines</a:t>
            </a:r>
          </a:p>
          <a:p>
            <a:r>
              <a:rPr lang="en-IN" b="0" dirty="0">
                <a:latin typeface="+mn-lt"/>
              </a:rPr>
              <a:t>FLYR Labs – AI-driven revenue and operations optimization for airlines</a:t>
            </a:r>
          </a:p>
          <a:p>
            <a:endParaRPr lang="en-IN" b="0" dirty="0">
              <a:latin typeface="+mn-lt"/>
            </a:endParaRPr>
          </a:p>
        </p:txBody>
      </p:sp>
      <p:sp>
        <p:nvSpPr>
          <p:cNvPr id="3" name="TextBox 2">
            <a:extLst>
              <a:ext uri="{FF2B5EF4-FFF2-40B4-BE49-F238E27FC236}">
                <a16:creationId xmlns:a16="http://schemas.microsoft.com/office/drawing/2014/main" id="{C7C2521A-B8A4-7818-FEB4-0309182DBEC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Industry Resources</a:t>
            </a:r>
          </a:p>
        </p:txBody>
      </p:sp>
      <p:cxnSp>
        <p:nvCxnSpPr>
          <p:cNvPr id="5" name="Straight Connector 4">
            <a:extLst>
              <a:ext uri="{FF2B5EF4-FFF2-40B4-BE49-F238E27FC236}">
                <a16:creationId xmlns:a16="http://schemas.microsoft.com/office/drawing/2014/main" id="{76871527-EAED-D60A-DB4D-12A2CE4201D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ADF6DB-6CFE-DDC5-997C-E84EE1A9470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4084703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Tech Stack</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8" name="Table 7">
            <a:extLst>
              <a:ext uri="{FF2B5EF4-FFF2-40B4-BE49-F238E27FC236}">
                <a16:creationId xmlns:a16="http://schemas.microsoft.com/office/drawing/2014/main" id="{9DA18997-EBCD-7962-E91C-418D211C7575}"/>
              </a:ext>
            </a:extLst>
          </p:cNvPr>
          <p:cNvGraphicFramePr>
            <a:graphicFrameLocks noGrp="1"/>
          </p:cNvGraphicFramePr>
          <p:nvPr>
            <p:extLst>
              <p:ext uri="{D42A27DB-BD31-4B8C-83A1-F6EECF244321}">
                <p14:modId xmlns:p14="http://schemas.microsoft.com/office/powerpoint/2010/main" val="3685314157"/>
              </p:ext>
            </p:extLst>
          </p:nvPr>
        </p:nvGraphicFramePr>
        <p:xfrm>
          <a:off x="355599" y="1443791"/>
          <a:ext cx="10408654" cy="3465084"/>
        </p:xfrm>
        <a:graphic>
          <a:graphicData uri="http://schemas.openxmlformats.org/drawingml/2006/table">
            <a:tbl>
              <a:tblPr firstRow="1" bandRow="1">
                <a:tableStyleId>{5C22544A-7EE6-4342-B048-85BDC9FD1C3A}</a:tableStyleId>
              </a:tblPr>
              <a:tblGrid>
                <a:gridCol w="5204327">
                  <a:extLst>
                    <a:ext uri="{9D8B030D-6E8A-4147-A177-3AD203B41FA5}">
                      <a16:colId xmlns:a16="http://schemas.microsoft.com/office/drawing/2014/main" val="1144383774"/>
                    </a:ext>
                  </a:extLst>
                </a:gridCol>
                <a:gridCol w="5204327">
                  <a:extLst>
                    <a:ext uri="{9D8B030D-6E8A-4147-A177-3AD203B41FA5}">
                      <a16:colId xmlns:a16="http://schemas.microsoft.com/office/drawing/2014/main" val="2662263483"/>
                    </a:ext>
                  </a:extLst>
                </a:gridCol>
              </a:tblGrid>
              <a:tr h="495012">
                <a:tc>
                  <a:txBody>
                    <a:bodyPr/>
                    <a:lstStyle/>
                    <a:p>
                      <a:r>
                        <a:rPr lang="en-US" dirty="0"/>
                        <a:t>Steps</a:t>
                      </a:r>
                      <a:endParaRPr lang="en-IN" dirty="0"/>
                    </a:p>
                  </a:txBody>
                  <a:tcPr/>
                </a:tc>
                <a:tc>
                  <a:txBody>
                    <a:bodyPr/>
                    <a:lstStyle/>
                    <a:p>
                      <a:r>
                        <a:rPr lang="en-US" dirty="0"/>
                        <a:t>Tools/Library/Framework</a:t>
                      </a:r>
                      <a:endParaRPr lang="en-IN" dirty="0"/>
                    </a:p>
                  </a:txBody>
                  <a:tcPr/>
                </a:tc>
                <a:extLst>
                  <a:ext uri="{0D108BD9-81ED-4DB2-BD59-A6C34878D82A}">
                    <a16:rowId xmlns:a16="http://schemas.microsoft.com/office/drawing/2014/main" val="1141426329"/>
                  </a:ext>
                </a:extLst>
              </a:tr>
              <a:tr h="495012">
                <a:tc>
                  <a:txBody>
                    <a:bodyPr/>
                    <a:lstStyle/>
                    <a:p>
                      <a:r>
                        <a:rPr lang="en-US" dirty="0"/>
                        <a:t>Data Collection</a:t>
                      </a:r>
                      <a:endParaRPr lang="en-IN" dirty="0"/>
                    </a:p>
                  </a:txBody>
                  <a:tcPr/>
                </a:tc>
                <a:tc>
                  <a:txBody>
                    <a:bodyPr/>
                    <a:lstStyle/>
                    <a:p>
                      <a:r>
                        <a:rPr lang="en-US" dirty="0"/>
                        <a:t>Python, APIs, BTS, NOAA </a:t>
                      </a:r>
                      <a:endParaRPr lang="en-IN" dirty="0"/>
                    </a:p>
                  </a:txBody>
                  <a:tcPr/>
                </a:tc>
                <a:extLst>
                  <a:ext uri="{0D108BD9-81ED-4DB2-BD59-A6C34878D82A}">
                    <a16:rowId xmlns:a16="http://schemas.microsoft.com/office/drawing/2014/main" val="754522278"/>
                  </a:ext>
                </a:extLst>
              </a:tr>
              <a:tr h="495012">
                <a:tc>
                  <a:txBody>
                    <a:bodyPr/>
                    <a:lstStyle/>
                    <a:p>
                      <a:r>
                        <a:rPr lang="en-US" dirty="0"/>
                        <a:t>Forecasting</a:t>
                      </a:r>
                    </a:p>
                  </a:txBody>
                  <a:tcPr/>
                </a:tc>
                <a:tc>
                  <a:txBody>
                    <a:bodyPr/>
                    <a:lstStyle/>
                    <a:p>
                      <a:r>
                        <a:rPr lang="en-US" dirty="0"/>
                        <a:t>Prophet / ARIMA / SARIMAX</a:t>
                      </a:r>
                      <a:endParaRPr lang="en-IN" dirty="0"/>
                    </a:p>
                  </a:txBody>
                  <a:tcPr/>
                </a:tc>
                <a:extLst>
                  <a:ext uri="{0D108BD9-81ED-4DB2-BD59-A6C34878D82A}">
                    <a16:rowId xmlns:a16="http://schemas.microsoft.com/office/drawing/2014/main" val="1803479637"/>
                  </a:ext>
                </a:extLst>
              </a:tr>
              <a:tr h="495012">
                <a:tc>
                  <a:txBody>
                    <a:bodyPr/>
                    <a:lstStyle/>
                    <a:p>
                      <a:r>
                        <a:rPr lang="en-US" dirty="0"/>
                        <a:t>Attribution Modelling </a:t>
                      </a:r>
                      <a:endParaRPr lang="en-IN" dirty="0"/>
                    </a:p>
                  </a:txBody>
                  <a:tcPr/>
                </a:tc>
                <a:tc>
                  <a:txBody>
                    <a:bodyPr/>
                    <a:lstStyle/>
                    <a:p>
                      <a:r>
                        <a:rPr lang="en-US" dirty="0"/>
                        <a:t>Multi-output regression model</a:t>
                      </a:r>
                      <a:endParaRPr lang="en-IN" dirty="0"/>
                    </a:p>
                  </a:txBody>
                  <a:tcPr/>
                </a:tc>
                <a:extLst>
                  <a:ext uri="{0D108BD9-81ED-4DB2-BD59-A6C34878D82A}">
                    <a16:rowId xmlns:a16="http://schemas.microsoft.com/office/drawing/2014/main" val="4051115093"/>
                  </a:ext>
                </a:extLst>
              </a:tr>
              <a:tr h="495012">
                <a:tc>
                  <a:txBody>
                    <a:bodyPr/>
                    <a:lstStyle/>
                    <a:p>
                      <a:r>
                        <a:rPr lang="en-US" dirty="0"/>
                        <a:t>LLM Explanation</a:t>
                      </a:r>
                      <a:endParaRPr lang="en-IN" dirty="0"/>
                    </a:p>
                  </a:txBody>
                  <a:tcPr/>
                </a:tc>
                <a:tc>
                  <a:txBody>
                    <a:bodyPr/>
                    <a:lstStyle/>
                    <a:p>
                      <a:r>
                        <a:rPr lang="en-US" dirty="0"/>
                        <a:t>GPT-4, LangChain ( optional )</a:t>
                      </a:r>
                      <a:endParaRPr lang="en-IN" dirty="0"/>
                    </a:p>
                  </a:txBody>
                  <a:tcPr/>
                </a:tc>
                <a:extLst>
                  <a:ext uri="{0D108BD9-81ED-4DB2-BD59-A6C34878D82A}">
                    <a16:rowId xmlns:a16="http://schemas.microsoft.com/office/drawing/2014/main" val="2687515523"/>
                  </a:ext>
                </a:extLst>
              </a:tr>
              <a:tr h="495012">
                <a:tc>
                  <a:txBody>
                    <a:bodyPr/>
                    <a:lstStyle/>
                    <a:p>
                      <a:r>
                        <a:rPr lang="en-US" dirty="0"/>
                        <a:t>Interface</a:t>
                      </a:r>
                      <a:endParaRPr lang="en-IN" dirty="0"/>
                    </a:p>
                  </a:txBody>
                  <a:tcPr/>
                </a:tc>
                <a:tc>
                  <a:txBody>
                    <a:bodyPr/>
                    <a:lstStyle/>
                    <a:p>
                      <a:r>
                        <a:rPr lang="en-US" dirty="0"/>
                        <a:t>Streamlit / Flask</a:t>
                      </a:r>
                      <a:endParaRPr lang="en-IN" dirty="0"/>
                    </a:p>
                  </a:txBody>
                  <a:tcPr/>
                </a:tc>
                <a:extLst>
                  <a:ext uri="{0D108BD9-81ED-4DB2-BD59-A6C34878D82A}">
                    <a16:rowId xmlns:a16="http://schemas.microsoft.com/office/drawing/2014/main" val="1203359648"/>
                  </a:ext>
                </a:extLst>
              </a:tr>
              <a:tr h="495012">
                <a:tc>
                  <a:txBody>
                    <a:bodyPr/>
                    <a:lstStyle/>
                    <a:p>
                      <a:r>
                        <a:rPr lang="en-US" dirty="0"/>
                        <a:t>Deployment</a:t>
                      </a:r>
                      <a:endParaRPr lang="en-IN" dirty="0"/>
                    </a:p>
                  </a:txBody>
                  <a:tcPr/>
                </a:tc>
                <a:tc>
                  <a:txBody>
                    <a:bodyPr/>
                    <a:lstStyle/>
                    <a:p>
                      <a:r>
                        <a:rPr lang="en-US" dirty="0"/>
                        <a:t>Docker, AWS, GitHub Actions</a:t>
                      </a:r>
                      <a:endParaRPr lang="en-IN" dirty="0"/>
                    </a:p>
                  </a:txBody>
                  <a:tcPr/>
                </a:tc>
                <a:extLst>
                  <a:ext uri="{0D108BD9-81ED-4DB2-BD59-A6C34878D82A}">
                    <a16:rowId xmlns:a16="http://schemas.microsoft.com/office/drawing/2014/main" val="2694491201"/>
                  </a:ext>
                </a:extLst>
              </a:tr>
            </a:tbl>
          </a:graphicData>
        </a:graphic>
      </p:graphicFrame>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0A9E7B-5623-AF94-F3EE-782A111D63FD}"/>
              </a:ext>
            </a:extLst>
          </p:cNvPr>
          <p:cNvSpPr>
            <a:spLocks noGrp="1"/>
          </p:cNvSpPr>
          <p:nvPr>
            <p:ph type="body" sz="quarter" idx="15"/>
          </p:nvPr>
        </p:nvSpPr>
        <p:spPr>
          <a:xfrm>
            <a:off x="255996" y="629525"/>
            <a:ext cx="10624338" cy="994883"/>
          </a:xfrm>
        </p:spPr>
        <p:txBody>
          <a:bodyPr/>
          <a:lstStyle/>
          <a:p>
            <a:pPr marL="0" indent="0">
              <a:buNone/>
            </a:pPr>
            <a:r>
              <a:rPr lang="en-US" sz="3600" dirty="0">
                <a:latin typeface="+mn-lt"/>
              </a:rPr>
              <a:t>Architecture Diagram : AI-powered Flight Delay Predictor &amp; Analyzer </a:t>
            </a:r>
            <a:endParaRPr lang="en-IN" sz="3600" dirty="0">
              <a:latin typeface="+mn-lt"/>
            </a:endParaRPr>
          </a:p>
        </p:txBody>
      </p:sp>
      <p:cxnSp>
        <p:nvCxnSpPr>
          <p:cNvPr id="10" name="Straight Connector 9">
            <a:extLst>
              <a:ext uri="{FF2B5EF4-FFF2-40B4-BE49-F238E27FC236}">
                <a16:creationId xmlns:a16="http://schemas.microsoft.com/office/drawing/2014/main" id="{D18C0CFE-CB7E-84CF-B2CB-A68F7A6AEA26}"/>
              </a:ext>
            </a:extLst>
          </p:cNvPr>
          <p:cNvCxnSpPr>
            <a:cxnSpLocks/>
          </p:cNvCxnSpPr>
          <p:nvPr/>
        </p:nvCxnSpPr>
        <p:spPr>
          <a:xfrm>
            <a:off x="348274" y="17251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4" name="Picture 3" descr="A diagram of a computer&#10;&#10;AI-generated content may be incorrect.">
            <a:extLst>
              <a:ext uri="{FF2B5EF4-FFF2-40B4-BE49-F238E27FC236}">
                <a16:creationId xmlns:a16="http://schemas.microsoft.com/office/drawing/2014/main" id="{509CE173-C101-E69A-7EA8-0A075F3BC6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8417" y="1825902"/>
            <a:ext cx="7942583" cy="4823464"/>
          </a:xfrm>
          <a:prstGeom prst="rect">
            <a:avLst/>
          </a:prstGeom>
        </p:spPr>
      </p:pic>
    </p:spTree>
    <p:extLst>
      <p:ext uri="{BB962C8B-B14F-4D97-AF65-F5344CB8AC3E}">
        <p14:creationId xmlns:p14="http://schemas.microsoft.com/office/powerpoint/2010/main" val="2617949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B98F70-4E00-7B3B-8ED9-7C08CF3D2B7D}"/>
              </a:ext>
            </a:extLst>
          </p:cNvPr>
          <p:cNvSpPr>
            <a:spLocks noGrp="1"/>
          </p:cNvSpPr>
          <p:nvPr>
            <p:ph type="body" sz="quarter" idx="15"/>
          </p:nvPr>
        </p:nvSpPr>
        <p:spPr/>
        <p:txBody>
          <a:bodyPr/>
          <a:lstStyle/>
          <a:p>
            <a:r>
              <a:rPr lang="en-US" dirty="0"/>
              <a:t>Gantt Chart: </a:t>
            </a:r>
            <a:endParaRPr lang="en-IN" dirty="0"/>
          </a:p>
        </p:txBody>
      </p:sp>
      <p:pic>
        <p:nvPicPr>
          <p:cNvPr id="2051" name="Picture 3" descr="Attachments">
            <a:extLst>
              <a:ext uri="{FF2B5EF4-FFF2-40B4-BE49-F238E27FC236}">
                <a16:creationId xmlns:a16="http://schemas.microsoft.com/office/drawing/2014/main" id="{AD7A3D14-50F0-CB33-12CB-30F9AF3B6A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250" y="280035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19AB5BF-E067-C595-8CEC-FE552C21B7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025" y="280035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chart with text on it&#10;&#10;AI-generated content may be incorrect.">
            <a:extLst>
              <a:ext uri="{FF2B5EF4-FFF2-40B4-BE49-F238E27FC236}">
                <a16:creationId xmlns:a16="http://schemas.microsoft.com/office/drawing/2014/main" id="{A35DBC39-5863-CFF5-F0AB-D971C47E7D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0072" y="607773"/>
            <a:ext cx="7494267" cy="5620701"/>
          </a:xfrm>
          <a:prstGeom prst="rect">
            <a:avLst/>
          </a:prstGeom>
        </p:spPr>
      </p:pic>
    </p:spTree>
    <p:extLst>
      <p:ext uri="{BB962C8B-B14F-4D97-AF65-F5344CB8AC3E}">
        <p14:creationId xmlns:p14="http://schemas.microsoft.com/office/powerpoint/2010/main" val="500310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19087-985E-73E3-351E-5058A2440BF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9941EF4-1E32-0429-D19F-902065BCA18A}"/>
              </a:ext>
            </a:extLst>
          </p:cNvPr>
          <p:cNvSpPr>
            <a:spLocks noGrp="1"/>
          </p:cNvSpPr>
          <p:nvPr>
            <p:ph type="body" sz="quarter" idx="13"/>
          </p:nvPr>
        </p:nvSpPr>
        <p:spPr>
          <a:xfrm>
            <a:off x="255996" y="1271219"/>
            <a:ext cx="10624338" cy="4142989"/>
          </a:xfrm>
        </p:spPr>
        <p:txBody>
          <a:bodyPr/>
          <a:lstStyle/>
          <a:p>
            <a:r>
              <a:rPr lang="en-US" b="0" dirty="0">
                <a:latin typeface="+mn-lt"/>
              </a:rPr>
              <a:t>Project setup is done in Vscode.</a:t>
            </a:r>
          </a:p>
          <a:p>
            <a:r>
              <a:rPr lang="en-US" b="0" dirty="0">
                <a:latin typeface="+mn-lt"/>
              </a:rPr>
              <a:t>Data Collection is done from the website named “Bureau of Transportation &amp; Statistics” ( BTS ) which contains data of United States Department of Transportation.</a:t>
            </a:r>
          </a:p>
          <a:p>
            <a:r>
              <a:rPr lang="en-US" b="0" dirty="0">
                <a:latin typeface="+mn-lt"/>
              </a:rPr>
              <a:t>It contained many columns like </a:t>
            </a:r>
            <a:r>
              <a:rPr lang="en-IN" b="0" dirty="0"/>
              <a:t>year,</a:t>
            </a:r>
            <a:r>
              <a:rPr lang="en-IN" dirty="0"/>
              <a:t> </a:t>
            </a:r>
            <a:r>
              <a:rPr lang="en-IN" b="0" dirty="0"/>
              <a:t>month,</a:t>
            </a:r>
            <a:r>
              <a:rPr lang="en-IN" dirty="0"/>
              <a:t> </a:t>
            </a:r>
            <a:r>
              <a:rPr lang="en-IN" b="0" dirty="0"/>
              <a:t>carrier,</a:t>
            </a:r>
            <a:r>
              <a:rPr lang="en-IN" dirty="0"/>
              <a:t> </a:t>
            </a:r>
            <a:r>
              <a:rPr lang="en-IN" b="0" dirty="0"/>
              <a:t>carrier_name,</a:t>
            </a:r>
            <a:r>
              <a:rPr lang="en-IN" dirty="0"/>
              <a:t> </a:t>
            </a:r>
            <a:r>
              <a:rPr lang="en-IN" b="0" dirty="0"/>
              <a:t>airport,</a:t>
            </a:r>
            <a:r>
              <a:rPr lang="en-IN" dirty="0"/>
              <a:t> </a:t>
            </a:r>
            <a:r>
              <a:rPr lang="en-IN" b="0" dirty="0"/>
              <a:t>airport_name,</a:t>
            </a:r>
            <a:r>
              <a:rPr lang="en-IN" dirty="0"/>
              <a:t> </a:t>
            </a:r>
            <a:r>
              <a:rPr lang="en-IN" b="0" dirty="0"/>
              <a:t>arr_flights,</a:t>
            </a:r>
            <a:r>
              <a:rPr lang="en-IN" dirty="0"/>
              <a:t> </a:t>
            </a:r>
            <a:r>
              <a:rPr lang="en-IN" b="0" dirty="0"/>
              <a:t>carrier_ct,</a:t>
            </a:r>
            <a:r>
              <a:rPr lang="en-IN" dirty="0"/>
              <a:t> </a:t>
            </a:r>
            <a:r>
              <a:rPr lang="en-IN" b="0" dirty="0"/>
              <a:t>weather_ct,</a:t>
            </a:r>
            <a:r>
              <a:rPr lang="en-IN" dirty="0"/>
              <a:t> </a:t>
            </a:r>
            <a:r>
              <a:rPr lang="en-IN" b="0" dirty="0"/>
              <a:t>nas_ct,</a:t>
            </a:r>
            <a:r>
              <a:rPr lang="en-IN" dirty="0"/>
              <a:t> </a:t>
            </a:r>
            <a:r>
              <a:rPr lang="en-IN" b="0" dirty="0"/>
              <a:t>security_ct,</a:t>
            </a:r>
            <a:r>
              <a:rPr lang="en-IN" dirty="0"/>
              <a:t> </a:t>
            </a:r>
            <a:r>
              <a:rPr lang="en-IN" b="0" dirty="0"/>
              <a:t>late_aircraft_ct,</a:t>
            </a:r>
            <a:r>
              <a:rPr lang="en-IN" dirty="0"/>
              <a:t> </a:t>
            </a:r>
            <a:r>
              <a:rPr lang="en-IN" b="0" dirty="0"/>
              <a:t>arr_diverted,</a:t>
            </a:r>
            <a:r>
              <a:rPr lang="en-IN" dirty="0"/>
              <a:t> </a:t>
            </a:r>
            <a:r>
              <a:rPr lang="en-IN" b="0" dirty="0"/>
              <a:t>arr_delay</a:t>
            </a:r>
            <a:r>
              <a:rPr lang="en-IN" dirty="0"/>
              <a:t> </a:t>
            </a:r>
            <a:r>
              <a:rPr lang="en-IN" b="0" dirty="0"/>
              <a:t>carrier_delay</a:t>
            </a:r>
            <a:r>
              <a:rPr lang="en-IN" dirty="0"/>
              <a:t> </a:t>
            </a:r>
            <a:r>
              <a:rPr lang="en-IN" b="0" dirty="0"/>
              <a:t>weather_delay</a:t>
            </a:r>
            <a:r>
              <a:rPr lang="en-IN" dirty="0"/>
              <a:t> </a:t>
            </a:r>
            <a:r>
              <a:rPr lang="en-IN" b="0" dirty="0"/>
              <a:t>nas_delay</a:t>
            </a:r>
            <a:r>
              <a:rPr lang="en-IN" dirty="0"/>
              <a:t> </a:t>
            </a:r>
            <a:r>
              <a:rPr lang="en-IN" b="0" dirty="0"/>
              <a:t>security_delay</a:t>
            </a:r>
            <a:r>
              <a:rPr lang="en-IN" dirty="0"/>
              <a:t> </a:t>
            </a:r>
            <a:r>
              <a:rPr lang="en-IN" b="0" dirty="0"/>
              <a:t>late_aircraft_delay</a:t>
            </a:r>
            <a:r>
              <a:rPr lang="en-IN" dirty="0"/>
              <a:t> </a:t>
            </a:r>
            <a:r>
              <a:rPr lang="en-US" b="0" dirty="0">
                <a:latin typeface="+mn-lt"/>
              </a:rPr>
              <a:t> and many more.</a:t>
            </a:r>
          </a:p>
          <a:p>
            <a:endParaRPr lang="en-US" b="0" dirty="0">
              <a:latin typeface="+mn-lt"/>
            </a:endParaRPr>
          </a:p>
        </p:txBody>
      </p:sp>
      <p:sp>
        <p:nvSpPr>
          <p:cNvPr id="3" name="TextBox 2">
            <a:extLst>
              <a:ext uri="{FF2B5EF4-FFF2-40B4-BE49-F238E27FC236}">
                <a16:creationId xmlns:a16="http://schemas.microsoft.com/office/drawing/2014/main" id="{A7C86325-400F-D98B-5CA0-EACB62939DA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1: Project setup &amp; Data Collection</a:t>
            </a:r>
          </a:p>
        </p:txBody>
      </p:sp>
      <p:cxnSp>
        <p:nvCxnSpPr>
          <p:cNvPr id="5" name="Straight Connector 4">
            <a:extLst>
              <a:ext uri="{FF2B5EF4-FFF2-40B4-BE49-F238E27FC236}">
                <a16:creationId xmlns:a16="http://schemas.microsoft.com/office/drawing/2014/main" id="{9E42C317-6A4B-8AC2-67E9-123DD9AFA34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F0F844-B6B5-1018-248A-AEBDC3F8D220}"/>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3948066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2B323-80DB-58AA-FCCD-F1EB7D1B8E5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0DC2612-7D48-CFC5-66AF-14D6C960FF52}"/>
              </a:ext>
            </a:extLst>
          </p:cNvPr>
          <p:cNvSpPr>
            <a:spLocks noGrp="1"/>
          </p:cNvSpPr>
          <p:nvPr>
            <p:ph type="body" sz="quarter" idx="13"/>
          </p:nvPr>
        </p:nvSpPr>
        <p:spPr>
          <a:xfrm>
            <a:off x="521110" y="1759975"/>
            <a:ext cx="10359224" cy="3487084"/>
          </a:xfrm>
        </p:spPr>
        <p:txBody>
          <a:bodyPr/>
          <a:lstStyle/>
          <a:p>
            <a:pPr marL="0" indent="0">
              <a:buNone/>
            </a:pPr>
            <a:r>
              <a:rPr lang="en-US" b="0" dirty="0">
                <a:latin typeface="+mn-lt"/>
              </a:rPr>
              <a:t>After the data is collected, we proceed with data cleaning where:</a:t>
            </a:r>
          </a:p>
          <a:p>
            <a:r>
              <a:rPr lang="en-US" b="0" dirty="0">
                <a:latin typeface="+mn-lt"/>
              </a:rPr>
              <a:t>Some null values are dropped and duplicates are removed</a:t>
            </a:r>
          </a:p>
          <a:p>
            <a:r>
              <a:rPr lang="en-US" b="0" dirty="0">
                <a:latin typeface="+mn-lt"/>
              </a:rPr>
              <a:t>Created a proper datetime column for grouping</a:t>
            </a:r>
          </a:p>
          <a:p>
            <a:r>
              <a:rPr lang="en-US" b="0" dirty="0">
                <a:latin typeface="+mn-lt"/>
              </a:rPr>
              <a:t>Renamed the columns according to the usage </a:t>
            </a:r>
          </a:p>
          <a:p>
            <a:r>
              <a:rPr lang="en-US" b="0" dirty="0">
                <a:latin typeface="+mn-lt"/>
              </a:rPr>
              <a:t>Feature selection to retain only relevant features </a:t>
            </a:r>
          </a:p>
          <a:p>
            <a:endParaRPr lang="en-US" b="0" dirty="0">
              <a:latin typeface="+mn-lt"/>
            </a:endParaRPr>
          </a:p>
          <a:p>
            <a:endParaRPr lang="en-US" b="0" dirty="0">
              <a:latin typeface="+mn-lt"/>
            </a:endParaRPr>
          </a:p>
          <a:p>
            <a:endParaRPr lang="en-US" b="0" dirty="0">
              <a:latin typeface="+mn-lt"/>
            </a:endParaRPr>
          </a:p>
        </p:txBody>
      </p:sp>
      <p:sp>
        <p:nvSpPr>
          <p:cNvPr id="3" name="TextBox 2">
            <a:extLst>
              <a:ext uri="{FF2B5EF4-FFF2-40B4-BE49-F238E27FC236}">
                <a16:creationId xmlns:a16="http://schemas.microsoft.com/office/drawing/2014/main" id="{942DA352-AA8E-A8EC-5F2A-665646F269E3}"/>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a:t>
            </a:r>
            <a:r>
              <a:rPr lang="en-US" sz="3600" b="1" dirty="0">
                <a:solidFill>
                  <a:srgbClr val="5B9BD5">
                    <a:lumMod val="50000"/>
                  </a:srgbClr>
                </a:solidFill>
                <a:latin typeface="Calibri" panose="020F0502020204030204"/>
              </a:rPr>
              <a:t>2</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Data Cleaning &amp; Preprocessing</a:t>
            </a:r>
          </a:p>
        </p:txBody>
      </p:sp>
      <p:cxnSp>
        <p:nvCxnSpPr>
          <p:cNvPr id="5" name="Straight Connector 4">
            <a:extLst>
              <a:ext uri="{FF2B5EF4-FFF2-40B4-BE49-F238E27FC236}">
                <a16:creationId xmlns:a16="http://schemas.microsoft.com/office/drawing/2014/main" id="{798871B2-D936-EF3D-9043-38CE94162CE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2E7D4D8-021F-D12F-8999-9D3B1A52D6A4}"/>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221131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20B00-4661-F039-3477-126A4920D7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3FFF43-4E9B-70C8-D7B5-8E2CB98BFD6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a:t>
            </a:r>
            <a:r>
              <a:rPr lang="en-US" sz="3600" b="1" dirty="0">
                <a:solidFill>
                  <a:srgbClr val="5B9BD5">
                    <a:lumMod val="50000"/>
                  </a:srgbClr>
                </a:solidFill>
                <a:latin typeface="Calibri" panose="020F0502020204030204"/>
              </a:rPr>
              <a:t>2</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Exploratory Data Analysis</a:t>
            </a:r>
          </a:p>
        </p:txBody>
      </p:sp>
      <p:cxnSp>
        <p:nvCxnSpPr>
          <p:cNvPr id="5" name="Straight Connector 4">
            <a:extLst>
              <a:ext uri="{FF2B5EF4-FFF2-40B4-BE49-F238E27FC236}">
                <a16:creationId xmlns:a16="http://schemas.microsoft.com/office/drawing/2014/main" id="{AC6A0B17-DEBA-214A-716C-576CB8C7522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8A16E06-260E-EB99-6D48-2216B9139C5E}"/>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7" name="Picture 6">
            <a:extLst>
              <a:ext uri="{FF2B5EF4-FFF2-40B4-BE49-F238E27FC236}">
                <a16:creationId xmlns:a16="http://schemas.microsoft.com/office/drawing/2014/main" id="{1AF1DBF5-F8FC-566B-A434-1EB91406D710}"/>
              </a:ext>
            </a:extLst>
          </p:cNvPr>
          <p:cNvPicPr>
            <a:picLocks noChangeAspect="1"/>
          </p:cNvPicPr>
          <p:nvPr/>
        </p:nvPicPr>
        <p:blipFill>
          <a:blip r:embed="rId2"/>
          <a:stretch>
            <a:fillRect/>
          </a:stretch>
        </p:blipFill>
        <p:spPr>
          <a:xfrm>
            <a:off x="374709" y="1305767"/>
            <a:ext cx="4384104" cy="2909406"/>
          </a:xfrm>
          <a:prstGeom prst="rect">
            <a:avLst/>
          </a:prstGeom>
        </p:spPr>
      </p:pic>
      <p:pic>
        <p:nvPicPr>
          <p:cNvPr id="9" name="Picture 8">
            <a:extLst>
              <a:ext uri="{FF2B5EF4-FFF2-40B4-BE49-F238E27FC236}">
                <a16:creationId xmlns:a16="http://schemas.microsoft.com/office/drawing/2014/main" id="{8CCBB094-9EC7-D8F2-326C-E05718E9EB7D}"/>
              </a:ext>
            </a:extLst>
          </p:cNvPr>
          <p:cNvPicPr>
            <a:picLocks noChangeAspect="1"/>
          </p:cNvPicPr>
          <p:nvPr/>
        </p:nvPicPr>
        <p:blipFill>
          <a:blip r:embed="rId3"/>
          <a:stretch>
            <a:fillRect/>
          </a:stretch>
        </p:blipFill>
        <p:spPr>
          <a:xfrm>
            <a:off x="5193277" y="1323637"/>
            <a:ext cx="4479824" cy="2934537"/>
          </a:xfrm>
          <a:prstGeom prst="rect">
            <a:avLst/>
          </a:prstGeom>
        </p:spPr>
      </p:pic>
      <p:sp>
        <p:nvSpPr>
          <p:cNvPr id="24" name="Text Placeholder 1">
            <a:extLst>
              <a:ext uri="{FF2B5EF4-FFF2-40B4-BE49-F238E27FC236}">
                <a16:creationId xmlns:a16="http://schemas.microsoft.com/office/drawing/2014/main" id="{901F3753-DFF5-1ED0-D36C-9E4F80069D90}"/>
              </a:ext>
            </a:extLst>
          </p:cNvPr>
          <p:cNvSpPr>
            <a:spLocks noGrp="1"/>
          </p:cNvSpPr>
          <p:nvPr>
            <p:ph type="body" sz="quarter" idx="13"/>
          </p:nvPr>
        </p:nvSpPr>
        <p:spPr>
          <a:xfrm>
            <a:off x="521110" y="4390055"/>
            <a:ext cx="10359224" cy="1965400"/>
          </a:xfrm>
        </p:spPr>
        <p:txBody>
          <a:bodyPr/>
          <a:lstStyle/>
          <a:p>
            <a:r>
              <a:rPr lang="en-US" b="0" dirty="0">
                <a:solidFill>
                  <a:schemeClr val="accent1"/>
                </a:solidFill>
                <a:latin typeface="+mn-lt"/>
                <a:ea typeface="Segoe UI Symbol" panose="020B0502040204020203" pitchFamily="34" charset="0"/>
              </a:rPr>
              <a:t>The distribution of average delays is highly right-skewed with extreme outliers inflating the scale. After applying a log transformation, the data reveals a more normal-like pattern, showing that most flights face moderate delays while a few experience very large disruptions.</a:t>
            </a:r>
          </a:p>
          <a:p>
            <a:endParaRPr lang="en-US" b="0" dirty="0">
              <a:solidFill>
                <a:schemeClr val="accent1"/>
              </a:solidFill>
              <a:latin typeface="+mn-lt"/>
              <a:ea typeface="Segoe UI Symbol" panose="020B0502040204020203" pitchFamily="34" charset="0"/>
            </a:endParaRPr>
          </a:p>
        </p:txBody>
      </p:sp>
    </p:spTree>
    <p:extLst>
      <p:ext uri="{BB962C8B-B14F-4D97-AF65-F5344CB8AC3E}">
        <p14:creationId xmlns:p14="http://schemas.microsoft.com/office/powerpoint/2010/main" val="967039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75A64-D729-A875-0D1B-F15B70B4279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350175-B0E6-A45F-1B11-CE21BD0CD645}"/>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a:t>
            </a:r>
            <a:r>
              <a:rPr lang="en-US" sz="3600" b="1" dirty="0">
                <a:solidFill>
                  <a:srgbClr val="5B9BD5">
                    <a:lumMod val="50000"/>
                  </a:srgbClr>
                </a:solidFill>
                <a:latin typeface="Calibri" panose="020F0502020204030204"/>
              </a:rPr>
              <a:t>2</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Exploratory Data Analysis</a:t>
            </a:r>
          </a:p>
        </p:txBody>
      </p:sp>
      <p:cxnSp>
        <p:nvCxnSpPr>
          <p:cNvPr id="5" name="Straight Connector 4">
            <a:extLst>
              <a:ext uri="{FF2B5EF4-FFF2-40B4-BE49-F238E27FC236}">
                <a16:creationId xmlns:a16="http://schemas.microsoft.com/office/drawing/2014/main" id="{B1C8C6A6-5E48-BC20-940C-01BF9F9DA2F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5E68781-2BDC-EAF3-5D49-CCAFDA73C065}"/>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24" name="Text Placeholder 1">
            <a:extLst>
              <a:ext uri="{FF2B5EF4-FFF2-40B4-BE49-F238E27FC236}">
                <a16:creationId xmlns:a16="http://schemas.microsoft.com/office/drawing/2014/main" id="{373F7F08-D242-8232-229F-4CCAA12A49E9}"/>
              </a:ext>
            </a:extLst>
          </p:cNvPr>
          <p:cNvSpPr>
            <a:spLocks noGrp="1"/>
          </p:cNvSpPr>
          <p:nvPr>
            <p:ph type="body" sz="quarter" idx="13"/>
          </p:nvPr>
        </p:nvSpPr>
        <p:spPr>
          <a:xfrm>
            <a:off x="521110" y="3975351"/>
            <a:ext cx="10359224" cy="2380103"/>
          </a:xfrm>
        </p:spPr>
        <p:txBody>
          <a:bodyPr/>
          <a:lstStyle/>
          <a:p>
            <a:r>
              <a:rPr lang="en-US" sz="2400" b="0" dirty="0"/>
              <a:t>On a log scale, late aircraft and carrier delays show higher median and wider spread, while weather and security delays remain relatively lower. This highlights late aircraft as a major contributor to variability.</a:t>
            </a:r>
          </a:p>
          <a:p>
            <a:r>
              <a:rPr lang="en-US" sz="2400" b="0" dirty="0"/>
              <a:t>Carrier and late aircraft delays dominate with broader distributions, whereas weather and security delays are concentrated at lower values. This confirms operational and aircraft issues as primary drivers of delay.</a:t>
            </a:r>
          </a:p>
          <a:p>
            <a:endParaRPr lang="en-US" sz="2400" b="0" dirty="0"/>
          </a:p>
          <a:p>
            <a:endParaRPr lang="en-US" sz="2400" b="0" dirty="0"/>
          </a:p>
        </p:txBody>
      </p:sp>
      <p:pic>
        <p:nvPicPr>
          <p:cNvPr id="2" name="Picture 1">
            <a:extLst>
              <a:ext uri="{FF2B5EF4-FFF2-40B4-BE49-F238E27FC236}">
                <a16:creationId xmlns:a16="http://schemas.microsoft.com/office/drawing/2014/main" id="{0BA1069B-D419-8696-CCF9-55A8ABEA9C1D}"/>
              </a:ext>
            </a:extLst>
          </p:cNvPr>
          <p:cNvPicPr>
            <a:picLocks noChangeAspect="1"/>
          </p:cNvPicPr>
          <p:nvPr/>
        </p:nvPicPr>
        <p:blipFill>
          <a:blip r:embed="rId2"/>
          <a:stretch>
            <a:fillRect/>
          </a:stretch>
        </p:blipFill>
        <p:spPr>
          <a:xfrm>
            <a:off x="853703" y="1337120"/>
            <a:ext cx="3649471" cy="2638232"/>
          </a:xfrm>
          <a:prstGeom prst="rect">
            <a:avLst/>
          </a:prstGeom>
        </p:spPr>
      </p:pic>
      <p:pic>
        <p:nvPicPr>
          <p:cNvPr id="6" name="Picture 5">
            <a:extLst>
              <a:ext uri="{FF2B5EF4-FFF2-40B4-BE49-F238E27FC236}">
                <a16:creationId xmlns:a16="http://schemas.microsoft.com/office/drawing/2014/main" id="{B0A90F3A-5C06-7960-FA24-675EC45AD64A}"/>
              </a:ext>
            </a:extLst>
          </p:cNvPr>
          <p:cNvPicPr>
            <a:picLocks noChangeAspect="1"/>
          </p:cNvPicPr>
          <p:nvPr/>
        </p:nvPicPr>
        <p:blipFill>
          <a:blip r:embed="rId3"/>
          <a:stretch>
            <a:fillRect/>
          </a:stretch>
        </p:blipFill>
        <p:spPr>
          <a:xfrm>
            <a:off x="5665706" y="1268954"/>
            <a:ext cx="3178782" cy="2675593"/>
          </a:xfrm>
          <a:prstGeom prst="rect">
            <a:avLst/>
          </a:prstGeom>
        </p:spPr>
      </p:pic>
    </p:spTree>
    <p:extLst>
      <p:ext uri="{BB962C8B-B14F-4D97-AF65-F5344CB8AC3E}">
        <p14:creationId xmlns:p14="http://schemas.microsoft.com/office/powerpoint/2010/main" val="3774366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2B196-551E-EC89-63AF-9D62CA12AC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E9D536-3A38-A6FC-E887-CF0D5B71EAC3}"/>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a:t>
            </a:r>
            <a:r>
              <a:rPr lang="en-US" sz="3600" b="1" dirty="0">
                <a:solidFill>
                  <a:srgbClr val="5B9BD5">
                    <a:lumMod val="50000"/>
                  </a:srgbClr>
                </a:solidFill>
                <a:latin typeface="Calibri" panose="020F0502020204030204"/>
              </a:rPr>
              <a:t>2</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Exploratory Data Analysis</a:t>
            </a:r>
          </a:p>
        </p:txBody>
      </p:sp>
      <p:cxnSp>
        <p:nvCxnSpPr>
          <p:cNvPr id="5" name="Straight Connector 4">
            <a:extLst>
              <a:ext uri="{FF2B5EF4-FFF2-40B4-BE49-F238E27FC236}">
                <a16:creationId xmlns:a16="http://schemas.microsoft.com/office/drawing/2014/main" id="{151C97BB-C32C-A4D6-6997-A2D742092D8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7A775C4-8FF3-7D77-3077-0CDB3C3F7C42}"/>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24" name="Text Placeholder 1">
            <a:extLst>
              <a:ext uri="{FF2B5EF4-FFF2-40B4-BE49-F238E27FC236}">
                <a16:creationId xmlns:a16="http://schemas.microsoft.com/office/drawing/2014/main" id="{321AA76A-B283-7E6F-B2CF-D7D29EDCD391}"/>
              </a:ext>
            </a:extLst>
          </p:cNvPr>
          <p:cNvSpPr>
            <a:spLocks noGrp="1"/>
          </p:cNvSpPr>
          <p:nvPr>
            <p:ph type="body" sz="quarter" idx="13"/>
          </p:nvPr>
        </p:nvSpPr>
        <p:spPr>
          <a:xfrm>
            <a:off x="521110" y="3942738"/>
            <a:ext cx="10359224" cy="2412717"/>
          </a:xfrm>
        </p:spPr>
        <p:txBody>
          <a:bodyPr/>
          <a:lstStyle/>
          <a:p>
            <a:r>
              <a:rPr lang="en-US" sz="2400" b="0" dirty="0"/>
              <a:t>This chart shows that ORD (Chicago O’Hare) and ATL (Atlanta) have the highest average delays among the top 15 airports, while MDW (Chicago Midway) and CLT (Charlotte) experience the lowest delays in this group.</a:t>
            </a:r>
          </a:p>
          <a:p>
            <a:r>
              <a:rPr lang="en-US" sz="2400" b="0" dirty="0"/>
              <a:t>The heatmap shows that late aircraft delays and carrier delays are most strongly correlated with overall average delays, while security delays have the weakest correlation with other delay types.</a:t>
            </a:r>
          </a:p>
          <a:p>
            <a:endParaRPr lang="en-US" sz="2400" b="0" dirty="0"/>
          </a:p>
        </p:txBody>
      </p:sp>
      <p:pic>
        <p:nvPicPr>
          <p:cNvPr id="15" name="Picture 14">
            <a:extLst>
              <a:ext uri="{FF2B5EF4-FFF2-40B4-BE49-F238E27FC236}">
                <a16:creationId xmlns:a16="http://schemas.microsoft.com/office/drawing/2014/main" id="{5D8F2954-1E74-E7C6-A151-286BD718D02E}"/>
              </a:ext>
            </a:extLst>
          </p:cNvPr>
          <p:cNvPicPr>
            <a:picLocks noChangeAspect="1"/>
          </p:cNvPicPr>
          <p:nvPr/>
        </p:nvPicPr>
        <p:blipFill>
          <a:blip r:embed="rId2"/>
          <a:stretch>
            <a:fillRect/>
          </a:stretch>
        </p:blipFill>
        <p:spPr>
          <a:xfrm>
            <a:off x="718838" y="1448721"/>
            <a:ext cx="4126299" cy="2269696"/>
          </a:xfrm>
          <a:prstGeom prst="rect">
            <a:avLst/>
          </a:prstGeom>
        </p:spPr>
      </p:pic>
      <p:pic>
        <p:nvPicPr>
          <p:cNvPr id="17" name="Picture 16">
            <a:extLst>
              <a:ext uri="{FF2B5EF4-FFF2-40B4-BE49-F238E27FC236}">
                <a16:creationId xmlns:a16="http://schemas.microsoft.com/office/drawing/2014/main" id="{A9D4DF87-65E5-9D0E-B6B4-1E91DF9BEE8C}"/>
              </a:ext>
            </a:extLst>
          </p:cNvPr>
          <p:cNvPicPr>
            <a:picLocks noChangeAspect="1"/>
          </p:cNvPicPr>
          <p:nvPr/>
        </p:nvPicPr>
        <p:blipFill>
          <a:blip r:embed="rId3"/>
          <a:stretch>
            <a:fillRect/>
          </a:stretch>
        </p:blipFill>
        <p:spPr>
          <a:xfrm>
            <a:off x="5700722" y="1416078"/>
            <a:ext cx="3064822" cy="2626310"/>
          </a:xfrm>
          <a:prstGeom prst="rect">
            <a:avLst/>
          </a:prstGeom>
        </p:spPr>
      </p:pic>
    </p:spTree>
    <p:extLst>
      <p:ext uri="{BB962C8B-B14F-4D97-AF65-F5344CB8AC3E}">
        <p14:creationId xmlns:p14="http://schemas.microsoft.com/office/powerpoint/2010/main" val="1295850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53078-0947-899D-6422-9C8B551B094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9EC692-1FF9-EC97-0DAD-975AD4DEF8B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a:t>
            </a:r>
            <a:r>
              <a:rPr lang="en-US" sz="3600" b="1" dirty="0">
                <a:solidFill>
                  <a:srgbClr val="5B9BD5">
                    <a:lumMod val="50000"/>
                  </a:srgbClr>
                </a:solidFill>
                <a:latin typeface="Calibri" panose="020F0502020204030204"/>
              </a:rPr>
              <a:t>2</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Exploratory Data Analysis</a:t>
            </a:r>
          </a:p>
        </p:txBody>
      </p:sp>
      <p:cxnSp>
        <p:nvCxnSpPr>
          <p:cNvPr id="5" name="Straight Connector 4">
            <a:extLst>
              <a:ext uri="{FF2B5EF4-FFF2-40B4-BE49-F238E27FC236}">
                <a16:creationId xmlns:a16="http://schemas.microsoft.com/office/drawing/2014/main" id="{F2FA68C3-8E14-EFC3-66B3-62350AF6EBE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7CE9102-25C0-9C94-CADD-1191C9AFCA0A}"/>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24" name="Text Placeholder 1">
            <a:extLst>
              <a:ext uri="{FF2B5EF4-FFF2-40B4-BE49-F238E27FC236}">
                <a16:creationId xmlns:a16="http://schemas.microsoft.com/office/drawing/2014/main" id="{145EC5CC-8352-25EB-B780-3EA866331A1C}"/>
              </a:ext>
            </a:extLst>
          </p:cNvPr>
          <p:cNvSpPr>
            <a:spLocks noGrp="1"/>
          </p:cNvSpPr>
          <p:nvPr>
            <p:ph type="body" sz="quarter" idx="13"/>
          </p:nvPr>
        </p:nvSpPr>
        <p:spPr>
          <a:xfrm>
            <a:off x="521110" y="3519948"/>
            <a:ext cx="10359224" cy="2733368"/>
          </a:xfrm>
        </p:spPr>
        <p:txBody>
          <a:bodyPr/>
          <a:lstStyle/>
          <a:p>
            <a:r>
              <a:rPr lang="en-US" sz="2300" b="0" dirty="0"/>
              <a:t>Most of these smaller/regional airports show relatively low total delays, except ABQ (Albuquerque) which stands out with a much higher delay volume. Again, carrier delays (blue) and late aircraft delays (purple) dominate for ABQ, while others remain at smaller scales.</a:t>
            </a:r>
          </a:p>
          <a:p>
            <a:r>
              <a:rPr lang="en-US" sz="2300" b="0" dirty="0"/>
              <a:t>ORD (Chicago O’Hare) and ATL (Atlanta) lead with the highest total delays, exceeding other airports significantly. Across these top airports, carrier delays (blue), NAS delays (green), and late aircraft delays (purple) are the largest contributors to total delay. Weather delays (orange) and security delays (red) are relatively minor in comparison.</a:t>
            </a:r>
          </a:p>
          <a:p>
            <a:endParaRPr lang="en-US" sz="2300" b="0" dirty="0"/>
          </a:p>
          <a:p>
            <a:endParaRPr lang="en-US" sz="2300" b="0" dirty="0"/>
          </a:p>
        </p:txBody>
      </p:sp>
      <p:pic>
        <p:nvPicPr>
          <p:cNvPr id="2" name="Picture 1">
            <a:extLst>
              <a:ext uri="{FF2B5EF4-FFF2-40B4-BE49-F238E27FC236}">
                <a16:creationId xmlns:a16="http://schemas.microsoft.com/office/drawing/2014/main" id="{5D90602B-0C65-0500-8655-F69D5B403645}"/>
              </a:ext>
            </a:extLst>
          </p:cNvPr>
          <p:cNvPicPr>
            <a:picLocks noChangeAspect="1"/>
          </p:cNvPicPr>
          <p:nvPr/>
        </p:nvPicPr>
        <p:blipFill>
          <a:blip r:embed="rId2"/>
          <a:stretch>
            <a:fillRect/>
          </a:stretch>
        </p:blipFill>
        <p:spPr>
          <a:xfrm>
            <a:off x="776262" y="1332957"/>
            <a:ext cx="4276234" cy="2279847"/>
          </a:xfrm>
          <a:prstGeom prst="rect">
            <a:avLst/>
          </a:prstGeom>
        </p:spPr>
      </p:pic>
      <p:pic>
        <p:nvPicPr>
          <p:cNvPr id="6" name="Picture 5">
            <a:extLst>
              <a:ext uri="{FF2B5EF4-FFF2-40B4-BE49-F238E27FC236}">
                <a16:creationId xmlns:a16="http://schemas.microsoft.com/office/drawing/2014/main" id="{5D9D40F0-AAE7-EEDE-323E-E3D92A1D8909}"/>
              </a:ext>
            </a:extLst>
          </p:cNvPr>
          <p:cNvPicPr>
            <a:picLocks noChangeAspect="1"/>
          </p:cNvPicPr>
          <p:nvPr/>
        </p:nvPicPr>
        <p:blipFill>
          <a:blip r:embed="rId3"/>
          <a:stretch>
            <a:fillRect/>
          </a:stretch>
        </p:blipFill>
        <p:spPr>
          <a:xfrm>
            <a:off x="5568165" y="1332957"/>
            <a:ext cx="4024630" cy="2186990"/>
          </a:xfrm>
          <a:prstGeom prst="rect">
            <a:avLst/>
          </a:prstGeom>
        </p:spPr>
      </p:pic>
    </p:spTree>
    <p:extLst>
      <p:ext uri="{BB962C8B-B14F-4D97-AF65-F5344CB8AC3E}">
        <p14:creationId xmlns:p14="http://schemas.microsoft.com/office/powerpoint/2010/main" val="3646155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BED97-4B4A-A020-A209-6C0C2F65CC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A205ED6-4483-82B6-6273-2297DB2A4B75}"/>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a:t>
            </a:r>
            <a:r>
              <a:rPr lang="en-US" sz="3600" b="1" dirty="0">
                <a:solidFill>
                  <a:srgbClr val="5B9BD5">
                    <a:lumMod val="50000"/>
                  </a:srgbClr>
                </a:solidFill>
                <a:latin typeface="Calibri" panose="020F0502020204030204"/>
              </a:rPr>
              <a:t>2</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Exploratory Data Analysis</a:t>
            </a:r>
          </a:p>
        </p:txBody>
      </p:sp>
      <p:cxnSp>
        <p:nvCxnSpPr>
          <p:cNvPr id="5" name="Straight Connector 4">
            <a:extLst>
              <a:ext uri="{FF2B5EF4-FFF2-40B4-BE49-F238E27FC236}">
                <a16:creationId xmlns:a16="http://schemas.microsoft.com/office/drawing/2014/main" id="{5178D777-E4D3-1DB6-42AA-7C0137BD227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6A9C9F8-E70E-E351-AD50-4CF86EE0BBC6}"/>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24" name="Text Placeholder 1">
            <a:extLst>
              <a:ext uri="{FF2B5EF4-FFF2-40B4-BE49-F238E27FC236}">
                <a16:creationId xmlns:a16="http://schemas.microsoft.com/office/drawing/2014/main" id="{1EE0CEB1-2F05-0D58-5726-CA8EF25DDF21}"/>
              </a:ext>
            </a:extLst>
          </p:cNvPr>
          <p:cNvSpPr>
            <a:spLocks noGrp="1"/>
          </p:cNvSpPr>
          <p:nvPr>
            <p:ph type="body" sz="quarter" idx="13"/>
          </p:nvPr>
        </p:nvSpPr>
        <p:spPr>
          <a:xfrm>
            <a:off x="521110" y="3787158"/>
            <a:ext cx="10359224" cy="2466158"/>
          </a:xfrm>
        </p:spPr>
        <p:txBody>
          <a:bodyPr/>
          <a:lstStyle/>
          <a:p>
            <a:r>
              <a:rPr lang="en-US" b="0" dirty="0"/>
              <a:t>Average Delay by Carrier (Bar Plot): A few carriers, especially AA and WN, show significantly higher average delays compared to others, indicating performance issues concentrated in specific airlines.</a:t>
            </a:r>
          </a:p>
          <a:p>
            <a:r>
              <a:rPr lang="en-US" b="0" dirty="0"/>
              <a:t>Carrier Delay vs Late Aircraft Delay (Scatter Plot): There’s a positive correlation — higher carrier delays are often linked with higher late aircraft delays, suggesting cascading effects of initial delays.</a:t>
            </a:r>
          </a:p>
          <a:p>
            <a:endParaRPr lang="en-US" sz="2300" b="0" dirty="0"/>
          </a:p>
        </p:txBody>
      </p:sp>
      <p:pic>
        <p:nvPicPr>
          <p:cNvPr id="8" name="Picture 7">
            <a:extLst>
              <a:ext uri="{FF2B5EF4-FFF2-40B4-BE49-F238E27FC236}">
                <a16:creationId xmlns:a16="http://schemas.microsoft.com/office/drawing/2014/main" id="{605D09D1-7DD6-AF7D-D8B1-39F44C46865A}"/>
              </a:ext>
            </a:extLst>
          </p:cNvPr>
          <p:cNvPicPr>
            <a:picLocks noChangeAspect="1"/>
          </p:cNvPicPr>
          <p:nvPr/>
        </p:nvPicPr>
        <p:blipFill>
          <a:blip r:embed="rId2"/>
          <a:stretch>
            <a:fillRect/>
          </a:stretch>
        </p:blipFill>
        <p:spPr>
          <a:xfrm>
            <a:off x="796129" y="1318759"/>
            <a:ext cx="4348309" cy="2341397"/>
          </a:xfrm>
          <a:prstGeom prst="rect">
            <a:avLst/>
          </a:prstGeom>
        </p:spPr>
      </p:pic>
      <p:pic>
        <p:nvPicPr>
          <p:cNvPr id="12" name="Picture 11">
            <a:extLst>
              <a:ext uri="{FF2B5EF4-FFF2-40B4-BE49-F238E27FC236}">
                <a16:creationId xmlns:a16="http://schemas.microsoft.com/office/drawing/2014/main" id="{27E4C256-7074-23E8-8CB1-B131D3D2AE07}"/>
              </a:ext>
            </a:extLst>
          </p:cNvPr>
          <p:cNvPicPr>
            <a:picLocks noChangeAspect="1"/>
          </p:cNvPicPr>
          <p:nvPr/>
        </p:nvPicPr>
        <p:blipFill>
          <a:blip r:embed="rId3"/>
          <a:stretch>
            <a:fillRect/>
          </a:stretch>
        </p:blipFill>
        <p:spPr>
          <a:xfrm>
            <a:off x="5700722" y="1318758"/>
            <a:ext cx="3866065" cy="2408601"/>
          </a:xfrm>
          <a:prstGeom prst="rect">
            <a:avLst/>
          </a:prstGeom>
        </p:spPr>
      </p:pic>
    </p:spTree>
    <p:extLst>
      <p:ext uri="{BB962C8B-B14F-4D97-AF65-F5344CB8AC3E}">
        <p14:creationId xmlns:p14="http://schemas.microsoft.com/office/powerpoint/2010/main" val="2375800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1A606-4A9C-F938-EEFE-D7FA3A0AFD3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1A42CC7-D531-2AFD-847B-D4274C303BBD}"/>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a:t>
            </a:r>
            <a:r>
              <a:rPr lang="en-US" sz="3600" b="1" dirty="0">
                <a:solidFill>
                  <a:srgbClr val="5B9BD5">
                    <a:lumMod val="50000"/>
                  </a:srgbClr>
                </a:solidFill>
                <a:latin typeface="Calibri" panose="020F0502020204030204"/>
              </a:rPr>
              <a:t>2</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Exploratory Data Analysis</a:t>
            </a:r>
          </a:p>
        </p:txBody>
      </p:sp>
      <p:cxnSp>
        <p:nvCxnSpPr>
          <p:cNvPr id="5" name="Straight Connector 4">
            <a:extLst>
              <a:ext uri="{FF2B5EF4-FFF2-40B4-BE49-F238E27FC236}">
                <a16:creationId xmlns:a16="http://schemas.microsoft.com/office/drawing/2014/main" id="{3C02CD1E-516A-0CB9-B334-CD0F3730686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0BA6BF4-A464-1C52-CB4C-96C7A2D84005}"/>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16" name="Picture 15">
            <a:extLst>
              <a:ext uri="{FF2B5EF4-FFF2-40B4-BE49-F238E27FC236}">
                <a16:creationId xmlns:a16="http://schemas.microsoft.com/office/drawing/2014/main" id="{361D4122-BCD5-8305-7B20-01A83FB7B859}"/>
              </a:ext>
            </a:extLst>
          </p:cNvPr>
          <p:cNvPicPr>
            <a:picLocks noChangeAspect="1"/>
          </p:cNvPicPr>
          <p:nvPr/>
        </p:nvPicPr>
        <p:blipFill>
          <a:blip r:embed="rId2"/>
          <a:stretch>
            <a:fillRect/>
          </a:stretch>
        </p:blipFill>
        <p:spPr>
          <a:xfrm>
            <a:off x="1118770" y="1388088"/>
            <a:ext cx="4534778" cy="4540907"/>
          </a:xfrm>
          <a:prstGeom prst="rect">
            <a:avLst/>
          </a:prstGeom>
        </p:spPr>
      </p:pic>
      <p:sp>
        <p:nvSpPr>
          <p:cNvPr id="18" name="Text Placeholder 1">
            <a:extLst>
              <a:ext uri="{FF2B5EF4-FFF2-40B4-BE49-F238E27FC236}">
                <a16:creationId xmlns:a16="http://schemas.microsoft.com/office/drawing/2014/main" id="{74DA8112-59AD-91F5-1CFF-27B757B381CD}"/>
              </a:ext>
            </a:extLst>
          </p:cNvPr>
          <p:cNvSpPr>
            <a:spLocks noGrp="1"/>
          </p:cNvSpPr>
          <p:nvPr>
            <p:ph type="body" sz="quarter" idx="13"/>
          </p:nvPr>
        </p:nvSpPr>
        <p:spPr>
          <a:xfrm>
            <a:off x="5968181" y="1388088"/>
            <a:ext cx="4912152" cy="4452274"/>
          </a:xfrm>
        </p:spPr>
        <p:txBody>
          <a:bodyPr/>
          <a:lstStyle/>
          <a:p>
            <a:r>
              <a:rPr lang="en-US" b="0" dirty="0"/>
              <a:t>This pairplot shows that carrier_delay, nas_delay, and late_aircraft_delay are strongly correlated with overall average delay, indicating they are the main contributors. In contrast, weather_delay and security_delay show weaker relationships, meaning they have less overall impact on total delays.</a:t>
            </a:r>
          </a:p>
          <a:p>
            <a:endParaRPr lang="en-US" sz="2300" b="0" dirty="0"/>
          </a:p>
        </p:txBody>
      </p:sp>
    </p:spTree>
    <p:extLst>
      <p:ext uri="{BB962C8B-B14F-4D97-AF65-F5344CB8AC3E}">
        <p14:creationId xmlns:p14="http://schemas.microsoft.com/office/powerpoint/2010/main" val="2823267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BECB155-EFDE-CA4D-A9BA-FE84355F690F}"/>
              </a:ext>
            </a:extLst>
          </p:cNvPr>
          <p:cNvSpPr>
            <a:spLocks noGrp="1"/>
          </p:cNvSpPr>
          <p:nvPr>
            <p:ph type="body" sz="quarter" idx="15"/>
          </p:nvPr>
        </p:nvSpPr>
        <p:spPr>
          <a:xfrm>
            <a:off x="416417" y="2490410"/>
            <a:ext cx="10624338" cy="814264"/>
          </a:xfrm>
        </p:spPr>
        <p:txBody>
          <a:bodyPr/>
          <a:lstStyle/>
          <a:p>
            <a:pPr marL="0" indent="0" algn="ctr">
              <a:buNone/>
            </a:pPr>
            <a:r>
              <a:rPr lang="en-US" sz="4000" dirty="0"/>
              <a:t>Thank You</a:t>
            </a:r>
            <a:endParaRPr lang="en-IN" sz="4000" dirty="0"/>
          </a:p>
        </p:txBody>
      </p:sp>
    </p:spTree>
    <p:extLst>
      <p:ext uri="{BB962C8B-B14F-4D97-AF65-F5344CB8AC3E}">
        <p14:creationId xmlns:p14="http://schemas.microsoft.com/office/powerpoint/2010/main" val="202352642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1858</TotalTime>
  <Words>1191</Words>
  <Application>Microsoft Office PowerPoint</Application>
  <PresentationFormat>Widescreen</PresentationFormat>
  <Paragraphs>107</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(Body)</vt:lpstr>
      <vt:lpstr>Calibri Light</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Hetvi Bhora</cp:lastModifiedBy>
  <cp:revision>16</cp:revision>
  <dcterms:created xsi:type="dcterms:W3CDTF">2024-05-13T10:33:11Z</dcterms:created>
  <dcterms:modified xsi:type="dcterms:W3CDTF">2025-09-07T14:54:43Z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